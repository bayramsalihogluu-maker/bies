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Straight-line</c:v>
                </c:pt>
              </c:strCache>
            </c:strRef>
          </c:tx>
          <c:spPr>
            <a:solidFill>
              <a:srgbClr val="2E447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480000</c:v>
                </c:pt>
                <c:pt idx="1">
                  <c:v>480000</c:v>
                </c:pt>
                <c:pt idx="2">
                  <c:v>480000</c:v>
                </c:pt>
                <c:pt idx="3">
                  <c:v>480000</c:v>
                </c:pt>
                <c:pt idx="4">
                  <c:v>480000</c:v>
                </c:pt>
                <c:pt idx="5">
                  <c:v>480000</c:v>
                </c:pt>
                <c:pt idx="6">
                  <c:v>480000</c:v>
                </c:pt>
                <c:pt idx="7">
                  <c:v>480000</c:v>
                </c:pt>
                <c:pt idx="8">
                  <c:v>480000</c:v>
                </c:pt>
                <c:pt idx="9">
                  <c:v>480000</c:v>
                </c:pt>
              </c:numCache>
            </c:numRef>
          </c:val>
        </c:ser>
        <c:ser>
          <c:idx val="1"/>
          <c:order val="1"/>
          <c:tx>
            <c:strRef>
              <c:f>Sheet1!$C$1</c:f>
              <c:strCache>
                <c:ptCount val="1"/>
                <c:pt idx="0">
                  <c:v>Declining balance</c:v>
                </c:pt>
              </c:strCache>
            </c:strRef>
          </c:tx>
          <c:spPr>
            <a:solidFill>
              <a:srgbClr val="C810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Sheet1!$C$2:$C$11</c:f>
              <c:numCache>
                <c:formatCode>General</c:formatCode>
                <c:ptCount val="10"/>
                <c:pt idx="0">
                  <c:v>960000</c:v>
                </c:pt>
                <c:pt idx="1">
                  <c:v>768000</c:v>
                </c:pt>
                <c:pt idx="2">
                  <c:v>614400</c:v>
                </c:pt>
                <c:pt idx="3">
                  <c:v>491520</c:v>
                </c:pt>
                <c:pt idx="4">
                  <c:v>393216</c:v>
                </c:pt>
                <c:pt idx="5">
                  <c:v>314573</c:v>
                </c:pt>
                <c:pt idx="6">
                  <c:v>251658</c:v>
                </c:pt>
                <c:pt idx="7">
                  <c:v>201327</c:v>
                </c:pt>
                <c:pt idx="8">
                  <c:v>161061</c:v>
                </c:pt>
                <c:pt idx="9">
                  <c:v>644245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ECF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Without revaluation</c:v>
                </c:pt>
              </c:strCache>
            </c:strRef>
          </c:tx>
          <c:spPr>
            <a:solidFill>
              <a:srgbClr val="6B72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Gross cost</c:v>
                  </c:pt>
                  <c:pt idx="1">
                    <c:v>Net book value</c:v>
                  </c:pt>
                  <c:pt idx="2">
                    <c:v>Annual depreciation</c:v>
                  </c:pt>
                </c:lvl>
              </c:multiLvlStrCache>
            </c:multiLvlStrRef>
          </c:cat>
          <c:val>
            <c:numRef>
              <c:f>Sheet1!$B$2:$B$4</c:f>
              <c:numCache>
                <c:formatCode>General</c:formatCode>
                <c:ptCount val="3"/>
                <c:pt idx="0">
                  <c:v>4800000</c:v>
                </c:pt>
                <c:pt idx="1">
                  <c:v>3360000</c:v>
                </c:pt>
                <c:pt idx="2">
                  <c:v>480000</c:v>
                </c:pt>
              </c:numCache>
            </c:numRef>
          </c:val>
        </c:ser>
        <c:ser>
          <c:idx val="1"/>
          <c:order val="1"/>
          <c:tx>
            <c:strRef>
              <c:f>Sheet1!$C$1</c:f>
              <c:strCache>
                <c:ptCount val="1"/>
                <c:pt idx="0">
                  <c:v>With revaluation</c:v>
                </c:pt>
              </c:strCache>
            </c:strRef>
          </c:tx>
          <c:spPr>
            <a:solidFill>
              <a:srgbClr val="2E447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Gross cost</c:v>
                  </c:pt>
                  <c:pt idx="1">
                    <c:v>Net book value</c:v>
                  </c:pt>
                  <c:pt idx="2">
                    <c:v>Annual depreciation</c:v>
                  </c:pt>
                </c:lvl>
              </c:multiLvlStrCache>
            </c:multiLvlStrRef>
          </c:cat>
          <c:val>
            <c:numRef>
              <c:f>Sheet1!$C$2:$C$4</c:f>
              <c:numCache>
                <c:formatCode>General</c:formatCode>
                <c:ptCount val="3"/>
                <c:pt idx="0">
                  <c:v>6023520</c:v>
                </c:pt>
                <c:pt idx="1">
                  <c:v>4216464</c:v>
                </c:pt>
                <c:pt idx="2">
                  <c:v>602352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ECF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Turkish tax book treatment. Statutory/IFRS book figures differ and are reconciled in the tax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a parent company comparing year-on-year Turkish depreciation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1737360"/>
            <a:ext cx="10881360" cy="274320"/>
          </a:xfrm>
          <a:prstGeom prst="rect">
            <a:avLst/>
          </a:prstGeom>
          <a:noFill/>
          <a:ln/>
        </p:spPr>
        <p:txBody>
          <a:bodyPr wrap="square" lIns="0" tIns="0" rIns="0" bIns="0" rtlCol="0" anchor="ctr"/>
          <a:lstStyle/>
          <a:p>
            <a:pPr indent="0" marL="0">
              <a:buNone/>
            </a:pPr>
            <a:r>
              <a:rPr lang="en-US" sz="1200" b="1" spc="300" kern="0" dirty="0">
                <a:solidFill>
                  <a:srgbClr val="8FA8D4"/>
                </a:solidFill>
                <a:latin typeface="Calibri" pitchFamily="34" charset="0"/>
                <a:ea typeface="Calibri" pitchFamily="34" charset="-122"/>
                <a:cs typeface="Calibri" pitchFamily="34" charset="-120"/>
              </a:rPr>
              <a:t>TÜRKİYE · TAX BRIEFING</a:t>
            </a:r>
            <a:endParaRPr lang="en-US" sz="1200" dirty="0"/>
          </a:p>
        </p:txBody>
      </p:sp>
      <p:sp>
        <p:nvSpPr>
          <p:cNvPr id="3" name="Text 1"/>
          <p:cNvSpPr txBox="1"/>
          <p:nvPr/>
        </p:nvSpPr>
        <p:spPr>
          <a:xfrm>
            <a:off x="640080" y="2103120"/>
            <a:ext cx="1088136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Depreciation and Amortisation</a:t>
            </a:r>
            <a:endParaRPr lang="en-US" sz="4600" dirty="0"/>
          </a:p>
        </p:txBody>
      </p:sp>
      <p:sp>
        <p:nvSpPr>
          <p:cNvPr id="4" name="Text 2"/>
          <p:cNvSpPr txBox="1"/>
          <p:nvPr/>
        </p:nvSpPr>
        <p:spPr>
          <a:xfrm>
            <a:off x="640080" y="2971800"/>
            <a:ext cx="841248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Turkish tax treatment of fixed assets and intangibles, with worked examples</a:t>
            </a:r>
            <a:endParaRPr lang="en-US" sz="1700" dirty="0"/>
          </a:p>
        </p:txBody>
      </p:sp>
      <p:sp>
        <p:nvSpPr>
          <p:cNvPr id="5" name="Shape 3"/>
          <p:cNvSpPr/>
          <p:nvPr/>
        </p:nvSpPr>
        <p:spPr>
          <a:xfrm>
            <a:off x="640080" y="3703320"/>
            <a:ext cx="1371600" cy="32004"/>
          </a:xfrm>
          <a:prstGeom prst="rect">
            <a:avLst/>
          </a:prstGeom>
          <a:solidFill>
            <a:srgbClr val="C8102E"/>
          </a:solidFill>
          <a:ln w="12700">
            <a:solidFill>
              <a:srgbClr val="C8102E"/>
            </a:solidFill>
            <a:prstDash val="solid"/>
          </a:ln>
        </p:spPr>
      </p:sp>
      <p:sp>
        <p:nvSpPr>
          <p:cNvPr id="6" name="Text 4"/>
          <p:cNvSpPr txBox="1"/>
          <p:nvPr/>
        </p:nvSpPr>
        <p:spPr>
          <a:xfrm>
            <a:off x="640080" y="4069080"/>
            <a:ext cx="3657600" cy="731520"/>
          </a:xfrm>
          <a:prstGeom prst="rect">
            <a:avLst/>
          </a:prstGeom>
          <a:noFill/>
          <a:ln/>
        </p:spPr>
        <p:txBody>
          <a:bodyPr wrap="square" lIns="0" tIns="0" rIns="0" bIns="0" rtlCol="0" anchor="ctr"/>
          <a:lstStyle/>
          <a:p>
            <a:pPr indent="0" marL="0">
              <a:buNone/>
            </a:pPr>
            <a:r>
              <a:rPr lang="en-US" sz="1100" dirty="0">
                <a:solidFill>
                  <a:srgbClr val="8FA8D4"/>
                </a:solidFill>
                <a:latin typeface="Calibri" pitchFamily="34" charset="0"/>
                <a:ea typeface="Calibri" pitchFamily="34" charset="-122"/>
                <a:cs typeface="Calibri" pitchFamily="34" charset="-120"/>
              </a:rPr>
              <a:t>Prepared for</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China Finance HQ</a:t>
            </a:r>
            <a:endParaRPr lang="en-US" sz="1100" dirty="0"/>
          </a:p>
        </p:txBody>
      </p:sp>
      <p:sp>
        <p:nvSpPr>
          <p:cNvPr id="7" name="Text 5"/>
          <p:cNvSpPr txBox="1"/>
          <p:nvPr/>
        </p:nvSpPr>
        <p:spPr>
          <a:xfrm>
            <a:off x="5120640" y="4069080"/>
            <a:ext cx="6400800" cy="731520"/>
          </a:xfrm>
          <a:prstGeom prst="rect">
            <a:avLst/>
          </a:prstGeom>
          <a:noFill/>
          <a:ln/>
        </p:spPr>
        <p:txBody>
          <a:bodyPr wrap="square" lIns="0" tIns="0" rIns="0" bIns="0" rtlCol="0" anchor="ctr"/>
          <a:lstStyle/>
          <a:p>
            <a:pPr indent="0" marL="0">
              <a:buNone/>
            </a:pPr>
            <a:r>
              <a:rPr lang="en-US" sz="1100" dirty="0">
                <a:solidFill>
                  <a:srgbClr val="8FA8D4"/>
                </a:solidFill>
                <a:latin typeface="Calibri" pitchFamily="34" charset="0"/>
                <a:ea typeface="Calibri" pitchFamily="34" charset="-122"/>
                <a:cs typeface="Calibri" pitchFamily="34" charset="-120"/>
              </a:rPr>
              <a:t>Basis</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Tax Procedure Law No. 213 · 2026 thresholds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What HQ needs to know</a:t>
            </a:r>
            <a:endParaRPr lang="en-US" sz="3200" dirty="0"/>
          </a:p>
        </p:txBody>
      </p:sp>
      <p:sp>
        <p:nvSpPr>
          <p:cNvPr id="4" name="Shape 2"/>
          <p:cNvSpPr/>
          <p:nvPr/>
        </p:nvSpPr>
        <p:spPr>
          <a:xfrm>
            <a:off x="640080" y="1554480"/>
            <a:ext cx="10881360" cy="1280160"/>
          </a:xfrm>
          <a:prstGeom prst="roundRect">
            <a:avLst>
              <a:gd name="adj" fmla="val 5714"/>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5" name="Shape 3"/>
          <p:cNvSpPr/>
          <p:nvPr/>
        </p:nvSpPr>
        <p:spPr>
          <a:xfrm>
            <a:off x="932688" y="1810512"/>
            <a:ext cx="384048" cy="384048"/>
          </a:xfrm>
          <a:prstGeom prst="ellipse">
            <a:avLst/>
          </a:prstGeom>
          <a:solidFill>
            <a:srgbClr val="1B2A4A"/>
          </a:solidFill>
          <a:ln w="12700">
            <a:solidFill>
              <a:srgbClr val="1B2A4A"/>
            </a:solidFill>
            <a:prstDash val="solid"/>
          </a:ln>
        </p:spPr>
      </p:sp>
      <p:sp>
        <p:nvSpPr>
          <p:cNvPr id="6" name="Text 4"/>
          <p:cNvSpPr txBox="1"/>
          <p:nvPr/>
        </p:nvSpPr>
        <p:spPr>
          <a:xfrm>
            <a:off x="932688"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508760" y="1737360"/>
            <a:ext cx="9692640" cy="329184"/>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Rates are fixed by law, not by policy</a:t>
            </a:r>
            <a:endParaRPr lang="en-US" sz="1600" dirty="0"/>
          </a:p>
        </p:txBody>
      </p:sp>
      <p:sp>
        <p:nvSpPr>
          <p:cNvPr id="8" name="Text 6"/>
          <p:cNvSpPr txBox="1"/>
          <p:nvPr/>
        </p:nvSpPr>
        <p:spPr>
          <a:xfrm>
            <a:off x="1508760" y="2103120"/>
            <a:ext cx="9692640" cy="64008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Useful lives come from a binding official schedule, asset by asset and sector by sector. Management cannot choose them. A longer life may be elected; a shorter one never.</a:t>
            </a:r>
            <a:endParaRPr lang="en-US" sz="1300" dirty="0"/>
          </a:p>
        </p:txBody>
      </p:sp>
      <p:sp>
        <p:nvSpPr>
          <p:cNvPr id="9" name="Shape 7"/>
          <p:cNvSpPr/>
          <p:nvPr/>
        </p:nvSpPr>
        <p:spPr>
          <a:xfrm>
            <a:off x="640080" y="2971800"/>
            <a:ext cx="10881360" cy="1280160"/>
          </a:xfrm>
          <a:prstGeom prst="roundRect">
            <a:avLst>
              <a:gd name="adj" fmla="val 5714"/>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0" name="Shape 8"/>
          <p:cNvSpPr/>
          <p:nvPr/>
        </p:nvSpPr>
        <p:spPr>
          <a:xfrm>
            <a:off x="932688" y="3227832"/>
            <a:ext cx="384048" cy="384048"/>
          </a:xfrm>
          <a:prstGeom prst="ellipse">
            <a:avLst/>
          </a:prstGeom>
          <a:solidFill>
            <a:srgbClr val="1B2A4A"/>
          </a:solidFill>
          <a:ln w="12700">
            <a:solidFill>
              <a:srgbClr val="1B2A4A"/>
            </a:solidFill>
            <a:prstDash val="solid"/>
          </a:ln>
        </p:spPr>
      </p:sp>
      <p:sp>
        <p:nvSpPr>
          <p:cNvPr id="11" name="Text 9"/>
          <p:cNvSpPr txBox="1"/>
          <p:nvPr/>
        </p:nvSpPr>
        <p:spPr>
          <a:xfrm>
            <a:off x="932688" y="3227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508760" y="3154680"/>
            <a:ext cx="9692640" cy="329184"/>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Inflation adjustment is suspended</a:t>
            </a:r>
            <a:endParaRPr lang="en-US" sz="1600" dirty="0"/>
          </a:p>
        </p:txBody>
      </p:sp>
      <p:sp>
        <p:nvSpPr>
          <p:cNvPr id="13" name="Text 11"/>
          <p:cNvSpPr txBox="1"/>
          <p:nvPr/>
        </p:nvSpPr>
        <p:spPr>
          <a:xfrm>
            <a:off x="1508760" y="3520440"/>
            <a:ext cx="9692640" cy="64008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For 2025, 2026 and 2027 no inflation adjustment is applied, regardless of whether the statutory trigger is met. An optional annual revaluation replaces it and protects the depreciation base.</a:t>
            </a:r>
            <a:endParaRPr lang="en-US" sz="1300" dirty="0"/>
          </a:p>
        </p:txBody>
      </p:sp>
      <p:sp>
        <p:nvSpPr>
          <p:cNvPr id="14" name="Shape 12"/>
          <p:cNvSpPr/>
          <p:nvPr/>
        </p:nvSpPr>
        <p:spPr>
          <a:xfrm>
            <a:off x="640080" y="4389120"/>
            <a:ext cx="10881360" cy="1280160"/>
          </a:xfrm>
          <a:prstGeom prst="roundRect">
            <a:avLst>
              <a:gd name="adj" fmla="val 5714"/>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5" name="Shape 13"/>
          <p:cNvSpPr/>
          <p:nvPr/>
        </p:nvSpPr>
        <p:spPr>
          <a:xfrm>
            <a:off x="932688" y="4645152"/>
            <a:ext cx="384048" cy="384048"/>
          </a:xfrm>
          <a:prstGeom prst="ellipse">
            <a:avLst/>
          </a:prstGeom>
          <a:solidFill>
            <a:srgbClr val="1B2A4A"/>
          </a:solidFill>
          <a:ln w="12700">
            <a:solidFill>
              <a:srgbClr val="1B2A4A"/>
            </a:solidFill>
            <a:prstDash val="solid"/>
          </a:ln>
        </p:spPr>
      </p:sp>
      <p:sp>
        <p:nvSpPr>
          <p:cNvPr id="16" name="Text 14"/>
          <p:cNvSpPr txBox="1"/>
          <p:nvPr/>
        </p:nvSpPr>
        <p:spPr>
          <a:xfrm>
            <a:off x="932688" y="46451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508760" y="4572000"/>
            <a:ext cx="9692640" cy="329184"/>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Passenger cars are capped</a:t>
            </a:r>
            <a:endParaRPr lang="en-US" sz="1600" dirty="0"/>
          </a:p>
        </p:txBody>
      </p:sp>
      <p:sp>
        <p:nvSpPr>
          <p:cNvPr id="18" name="Text 16"/>
          <p:cNvSpPr txBox="1"/>
          <p:nvPr/>
        </p:nvSpPr>
        <p:spPr>
          <a:xfrm>
            <a:off x="1508760" y="4937760"/>
            <a:ext cx="9692640" cy="64008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Unique to this asset class: the deductible cost is capped and the excess is permanently non-deductible. It is a permanent difference, not timing.</a:t>
            </a:r>
            <a:endParaRPr lang="en-US" sz="1300" dirty="0"/>
          </a:p>
        </p:txBody>
      </p:sp>
      <p:sp>
        <p:nvSpPr>
          <p:cNvPr id="19" name="Text 17"/>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Detail and worked examples follow. All figures are 2026 amounts unless stated otherwise.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WHERE THE RULES COME FROM</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Legal framework</a:t>
            </a:r>
            <a:endParaRPr lang="en-US" sz="3200" dirty="0"/>
          </a:p>
        </p:txBody>
      </p:sp>
      <p:sp>
        <p:nvSpPr>
          <p:cNvPr id="4" name="Shape 2"/>
          <p:cNvSpPr/>
          <p:nvPr/>
        </p:nvSpPr>
        <p:spPr>
          <a:xfrm>
            <a:off x="640080" y="1645920"/>
            <a:ext cx="5303520" cy="1783080"/>
          </a:xfrm>
          <a:prstGeom prst="roundRect">
            <a:avLst>
              <a:gd name="adj" fmla="val 4103"/>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5" name="Shape 3"/>
          <p:cNvSpPr/>
          <p:nvPr/>
        </p:nvSpPr>
        <p:spPr>
          <a:xfrm>
            <a:off x="914400" y="1901952"/>
            <a:ext cx="310896" cy="310896"/>
          </a:xfrm>
          <a:prstGeom prst="ellipse">
            <a:avLst/>
          </a:prstGeom>
          <a:solidFill>
            <a:srgbClr val="EEF2F8"/>
          </a:solidFill>
          <a:ln w="12700">
            <a:solidFill>
              <a:srgbClr val="1B2A4A"/>
            </a:solidFill>
            <a:prstDash val="solid"/>
          </a:ln>
        </p:spPr>
      </p:sp>
      <p:sp>
        <p:nvSpPr>
          <p:cNvPr id="6" name="Text 4"/>
          <p:cNvSpPr txBox="1"/>
          <p:nvPr/>
        </p:nvSpPr>
        <p:spPr>
          <a:xfrm>
            <a:off x="1353312" y="1865376"/>
            <a:ext cx="4297680" cy="56692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Tax Procedure Law No. 213 (VUK)</a:t>
            </a:r>
            <a:endParaRPr lang="en-US" sz="1500" dirty="0"/>
          </a:p>
        </p:txBody>
      </p:sp>
      <p:sp>
        <p:nvSpPr>
          <p:cNvPr id="7" name="Text 5"/>
          <p:cNvSpPr txBox="1"/>
          <p:nvPr/>
        </p:nvSpPr>
        <p:spPr>
          <a:xfrm>
            <a:off x="914400" y="2514600"/>
            <a:ext cx="4754880" cy="7772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Arts. 313–321 set what is depreciable, the methods and the periods. Repeated Art. 315 governs declining balance.</a:t>
            </a:r>
            <a:endParaRPr lang="en-US" sz="1200" dirty="0"/>
          </a:p>
        </p:txBody>
      </p:sp>
      <p:sp>
        <p:nvSpPr>
          <p:cNvPr id="8" name="Shape 6"/>
          <p:cNvSpPr/>
          <p:nvPr/>
        </p:nvSpPr>
        <p:spPr>
          <a:xfrm>
            <a:off x="6217920" y="1645920"/>
            <a:ext cx="5303520" cy="1783080"/>
          </a:xfrm>
          <a:prstGeom prst="roundRect">
            <a:avLst>
              <a:gd name="adj" fmla="val 4103"/>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9" name="Shape 7"/>
          <p:cNvSpPr/>
          <p:nvPr/>
        </p:nvSpPr>
        <p:spPr>
          <a:xfrm>
            <a:off x="6492240" y="1901952"/>
            <a:ext cx="310896" cy="310896"/>
          </a:xfrm>
          <a:prstGeom prst="ellipse">
            <a:avLst/>
          </a:prstGeom>
          <a:solidFill>
            <a:srgbClr val="EEF2F8"/>
          </a:solidFill>
          <a:ln w="12700">
            <a:solidFill>
              <a:srgbClr val="1B2A4A"/>
            </a:solidFill>
            <a:prstDash val="solid"/>
          </a:ln>
        </p:spPr>
      </p:sp>
      <p:sp>
        <p:nvSpPr>
          <p:cNvPr id="10" name="Text 8"/>
          <p:cNvSpPr txBox="1"/>
          <p:nvPr/>
        </p:nvSpPr>
        <p:spPr>
          <a:xfrm>
            <a:off x="6931152" y="1865376"/>
            <a:ext cx="4297680" cy="56692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Depreciation List</a:t>
            </a:r>
            <a:endParaRPr lang="en-US" sz="1500" dirty="0"/>
          </a:p>
        </p:txBody>
      </p:sp>
      <p:sp>
        <p:nvSpPr>
          <p:cNvPr id="11" name="Text 9"/>
          <p:cNvSpPr txBox="1"/>
          <p:nvPr/>
        </p:nvSpPr>
        <p:spPr>
          <a:xfrm>
            <a:off x="6492240" y="2514600"/>
            <a:ext cx="4754880" cy="7772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General Communiqué No. 333 (2004), amended nine times since. The binding schedule of useful lives, several hundred lines, differentiated by sector.</a:t>
            </a:r>
            <a:endParaRPr lang="en-US" sz="1200" dirty="0"/>
          </a:p>
        </p:txBody>
      </p:sp>
      <p:sp>
        <p:nvSpPr>
          <p:cNvPr id="12" name="Shape 10"/>
          <p:cNvSpPr/>
          <p:nvPr/>
        </p:nvSpPr>
        <p:spPr>
          <a:xfrm>
            <a:off x="640080" y="3703320"/>
            <a:ext cx="5303520" cy="1783080"/>
          </a:xfrm>
          <a:prstGeom prst="roundRect">
            <a:avLst>
              <a:gd name="adj" fmla="val 4103"/>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3" name="Shape 11"/>
          <p:cNvSpPr/>
          <p:nvPr/>
        </p:nvSpPr>
        <p:spPr>
          <a:xfrm>
            <a:off x="914400" y="3959352"/>
            <a:ext cx="310896" cy="310896"/>
          </a:xfrm>
          <a:prstGeom prst="ellipse">
            <a:avLst/>
          </a:prstGeom>
          <a:solidFill>
            <a:srgbClr val="EEF2F8"/>
          </a:solidFill>
          <a:ln w="12700">
            <a:solidFill>
              <a:srgbClr val="1B2A4A"/>
            </a:solidFill>
            <a:prstDash val="solid"/>
          </a:ln>
        </p:spPr>
      </p:sp>
      <p:sp>
        <p:nvSpPr>
          <p:cNvPr id="14" name="Text 12"/>
          <p:cNvSpPr txBox="1"/>
          <p:nvPr/>
        </p:nvSpPr>
        <p:spPr>
          <a:xfrm>
            <a:off x="1353312" y="3922776"/>
            <a:ext cx="4297680" cy="56692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Income Tax Law No. 193</a:t>
            </a:r>
            <a:endParaRPr lang="en-US" sz="1500" dirty="0"/>
          </a:p>
        </p:txBody>
      </p:sp>
      <p:sp>
        <p:nvSpPr>
          <p:cNvPr id="15" name="Text 13"/>
          <p:cNvSpPr txBox="1"/>
          <p:nvPr/>
        </p:nvSpPr>
        <p:spPr>
          <a:xfrm>
            <a:off x="914400" y="4572000"/>
            <a:ext cx="4754880" cy="7772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Art. 40 restricts passenger car costs. Annual amounts are set by communiqué, most recently No. 332 for 2026.</a:t>
            </a:r>
            <a:endParaRPr lang="en-US" sz="1200" dirty="0"/>
          </a:p>
        </p:txBody>
      </p:sp>
      <p:sp>
        <p:nvSpPr>
          <p:cNvPr id="16" name="Shape 14"/>
          <p:cNvSpPr/>
          <p:nvPr/>
        </p:nvSpPr>
        <p:spPr>
          <a:xfrm>
            <a:off x="6217920" y="3703320"/>
            <a:ext cx="5303520" cy="1783080"/>
          </a:xfrm>
          <a:prstGeom prst="roundRect">
            <a:avLst>
              <a:gd name="adj" fmla="val 4103"/>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7" name="Shape 15"/>
          <p:cNvSpPr/>
          <p:nvPr/>
        </p:nvSpPr>
        <p:spPr>
          <a:xfrm>
            <a:off x="6492240" y="3959352"/>
            <a:ext cx="310896" cy="310896"/>
          </a:xfrm>
          <a:prstGeom prst="ellipse">
            <a:avLst/>
          </a:prstGeom>
          <a:solidFill>
            <a:srgbClr val="EEF2F8"/>
          </a:solidFill>
          <a:ln w="12700">
            <a:solidFill>
              <a:srgbClr val="1B2A4A"/>
            </a:solidFill>
            <a:prstDash val="solid"/>
          </a:ln>
        </p:spPr>
      </p:sp>
      <p:sp>
        <p:nvSpPr>
          <p:cNvPr id="18" name="Text 16"/>
          <p:cNvSpPr txBox="1"/>
          <p:nvPr/>
        </p:nvSpPr>
        <p:spPr>
          <a:xfrm>
            <a:off x="6931152" y="3922776"/>
            <a:ext cx="4297680" cy="56692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Annual threshold updates</a:t>
            </a:r>
            <a:endParaRPr lang="en-US" sz="1500" dirty="0"/>
          </a:p>
        </p:txBody>
      </p:sp>
      <p:sp>
        <p:nvSpPr>
          <p:cNvPr id="19" name="Text 17"/>
          <p:cNvSpPr txBox="1"/>
          <p:nvPr/>
        </p:nvSpPr>
        <p:spPr>
          <a:xfrm>
            <a:off x="6492240" y="4572000"/>
            <a:ext cx="4754880" cy="7772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The direct expensing limit and car caps are re-set every January. Any model built on them must be refreshed yearly.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What is depreciated, and what is expensed at once</a:t>
            </a:r>
            <a:endParaRPr lang="en-US" sz="3200" dirty="0"/>
          </a:p>
        </p:txBody>
      </p:sp>
      <p:sp>
        <p:nvSpPr>
          <p:cNvPr id="4" name="Shape 2"/>
          <p:cNvSpPr/>
          <p:nvPr/>
        </p:nvSpPr>
        <p:spPr>
          <a:xfrm>
            <a:off x="640080" y="1645920"/>
            <a:ext cx="5120640" cy="2834640"/>
          </a:xfrm>
          <a:prstGeom prst="roundRect">
            <a:avLst>
              <a:gd name="adj" fmla="val 2581"/>
            </a:avLst>
          </a:prstGeom>
          <a:solidFill>
            <a:srgbClr val="EEF2F8"/>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5" name="Text 3"/>
          <p:cNvSpPr txBox="1"/>
          <p:nvPr/>
        </p:nvSpPr>
        <p:spPr>
          <a:xfrm>
            <a:off x="960120" y="1828800"/>
            <a:ext cx="457200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Expensed immediately</a:t>
            </a:r>
            <a:endParaRPr lang="en-US" sz="1600" dirty="0"/>
          </a:p>
        </p:txBody>
      </p:sp>
      <p:sp>
        <p:nvSpPr>
          <p:cNvPr id="6" name="Text 4"/>
          <p:cNvSpPr txBox="1"/>
          <p:nvPr/>
        </p:nvSpPr>
        <p:spPr>
          <a:xfrm>
            <a:off x="960120" y="2240280"/>
            <a:ext cx="4572000" cy="777240"/>
          </a:xfrm>
          <a:prstGeom prst="rect">
            <a:avLst/>
          </a:prstGeom>
          <a:noFill/>
          <a:ln/>
        </p:spPr>
        <p:txBody>
          <a:bodyPr wrap="square" lIns="0" tIns="0" rIns="0" bIns="0" rtlCol="0" anchor="ctr"/>
          <a:lstStyle/>
          <a:p>
            <a:pPr algn="l" indent="0" marL="0">
              <a:buNone/>
            </a:pPr>
            <a:r>
              <a:rPr lang="en-US" sz="4000" b="1" dirty="0">
                <a:solidFill>
                  <a:srgbClr val="C8102E"/>
                </a:solidFill>
                <a:latin typeface="Cambria" pitchFamily="34" charset="0"/>
                <a:ea typeface="Cambria" pitchFamily="34" charset="-122"/>
                <a:cs typeface="Cambria" pitchFamily="34" charset="-120"/>
              </a:rPr>
              <a:t>TRY 12,000</a:t>
            </a:r>
            <a:endParaRPr lang="en-US" sz="4000" dirty="0"/>
          </a:p>
        </p:txBody>
      </p:sp>
      <p:sp>
        <p:nvSpPr>
          <p:cNvPr id="7" name="Text 5"/>
          <p:cNvSpPr txBox="1"/>
          <p:nvPr/>
        </p:nvSpPr>
        <p:spPr>
          <a:xfrm>
            <a:off x="960120" y="2990088"/>
            <a:ext cx="4572000" cy="6858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2026 threshold, VAT excluded. Assets below this are deducted in full in the year of purchase.</a:t>
            </a:r>
            <a:endParaRPr lang="en-US" sz="1200" dirty="0"/>
          </a:p>
        </p:txBody>
      </p:sp>
      <p:sp>
        <p:nvSpPr>
          <p:cNvPr id="8" name="Text 6"/>
          <p:cNvSpPr txBox="1"/>
          <p:nvPr/>
        </p:nvSpPr>
        <p:spPr>
          <a:xfrm>
            <a:off x="960120" y="3657600"/>
            <a:ext cx="4572000" cy="68580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Assets that form one economic and technical unit are tested together against the limit, not item by item.</a:t>
            </a:r>
            <a:endParaRPr lang="en-US" sz="1200" dirty="0"/>
          </a:p>
        </p:txBody>
      </p:sp>
      <p:sp>
        <p:nvSpPr>
          <p:cNvPr id="9" name="Shape 7"/>
          <p:cNvSpPr/>
          <p:nvPr/>
        </p:nvSpPr>
        <p:spPr>
          <a:xfrm>
            <a:off x="6035040" y="1645920"/>
            <a:ext cx="5486400" cy="2834640"/>
          </a:xfrm>
          <a:prstGeom prst="roundRect">
            <a:avLst>
              <a:gd name="adj" fmla="val 2581"/>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0" name="Text 8"/>
          <p:cNvSpPr txBox="1"/>
          <p:nvPr/>
        </p:nvSpPr>
        <p:spPr>
          <a:xfrm>
            <a:off x="6355080" y="1828800"/>
            <a:ext cx="502920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Depreciated over its useful life</a:t>
            </a:r>
            <a:endParaRPr lang="en-US" sz="1600" dirty="0"/>
          </a:p>
        </p:txBody>
      </p:sp>
      <p:sp>
        <p:nvSpPr>
          <p:cNvPr id="11" name="Text 9"/>
          <p:cNvSpPr txBox="1"/>
          <p:nvPr/>
        </p:nvSpPr>
        <p:spPr>
          <a:xfrm>
            <a:off x="6355080" y="2286000"/>
            <a:ext cx="4937760" cy="19202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Held in the business for more than one year</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Subject to wear, obsolescence or depletion</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Recorded at acquisition cost; no residual value is deducted</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Land is never depreciated; buildings on it are</a:t>
            </a:r>
            <a:endParaRPr lang="en-US" sz="1300" dirty="0"/>
          </a:p>
        </p:txBody>
      </p:sp>
      <p:sp>
        <p:nvSpPr>
          <p:cNvPr id="12" name="Text 10"/>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VUK Art. 313. Turkish tax depreciation is computed on full cost: unlike IFRS, residual value is not deducted from the depreciable base.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THE DEPRECIATION SCHEDULE</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Useful lives are prescribed, not estimated</a:t>
            </a:r>
            <a:endParaRPr lang="en-US" sz="3200" dirty="0"/>
          </a:p>
        </p:txBody>
      </p:sp>
      <p:sp>
        <p:nvSpPr>
          <p:cNvPr id="4" name="Text 2"/>
          <p:cNvSpPr txBox="1"/>
          <p:nvPr/>
        </p:nvSpPr>
        <p:spPr>
          <a:xfrm>
            <a:off x="640080" y="1572768"/>
            <a:ext cx="10881360" cy="566928"/>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This is the structural difference HQ should note. Turkish tax law does not set a handful of statutory minimums and let management estimate within them. It publishes a detailed schedule and the taxpayer applies the line that fits the asset.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881360" cy="914400"/>
        </p:xfrm>
        <a:graphic>
          <a:graphicData uri="http://schemas.openxmlformats.org/drawingml/2006/table">
            <a:tbl>
              <a:tblPr/>
              <a:tblGrid>
                <a:gridCol w="5852160"/>
                <a:gridCol w="2514600"/>
                <a:gridCol w="251460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Asset class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Useful life</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Annual rate</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Buildings (commercial / industrial)</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50 years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Machinery and equipment (sector dependent)</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5–15 years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6.7–20%</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Passenger cars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5 years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Office furniture and fixtures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5 years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Computers and hardware</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4 years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25.0%</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Computer software</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3 years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33.3%</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Intangible rights (patents, know-how, licences)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15 years</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6.66%</a:t>
                      </a:r>
                      <a:endParaRPr lang="en-US" sz="13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Indicative figures from the Depreciation List (VUK General Communiqué No. 333 as amended). Where an asset serves more than one sector, the longest life and lowest rate applies. Confirm the line for each specific asset before filing.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METHODS AND ELECTIONS</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Four choices the taxpayer controls</a:t>
            </a:r>
            <a:endParaRPr lang="en-US" sz="3200" dirty="0"/>
          </a:p>
        </p:txBody>
      </p:sp>
      <p:sp>
        <p:nvSpPr>
          <p:cNvPr id="4" name="Shape 2"/>
          <p:cNvSpPr/>
          <p:nvPr/>
        </p:nvSpPr>
        <p:spPr>
          <a:xfrm>
            <a:off x="640080" y="1645920"/>
            <a:ext cx="5303520" cy="1783080"/>
          </a:xfrm>
          <a:prstGeom prst="roundRect">
            <a:avLst>
              <a:gd name="adj" fmla="val 4103"/>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5" name="Text 3"/>
          <p:cNvSpPr txBox="1"/>
          <p:nvPr/>
        </p:nvSpPr>
        <p:spPr>
          <a:xfrm>
            <a:off x="932688" y="1847088"/>
            <a:ext cx="4718304" cy="36576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Straight-line</a:t>
            </a:r>
            <a:endParaRPr lang="en-US" sz="1900" dirty="0"/>
          </a:p>
        </p:txBody>
      </p:sp>
      <p:sp>
        <p:nvSpPr>
          <p:cNvPr id="6" name="Text 4"/>
          <p:cNvSpPr txBox="1"/>
          <p:nvPr/>
        </p:nvSpPr>
        <p:spPr>
          <a:xfrm>
            <a:off x="932688" y="2267712"/>
            <a:ext cx="4718304" cy="7315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The default. Equal amounts across the official life.</a:t>
            </a:r>
            <a:endParaRPr lang="en-US" sz="1250" dirty="0"/>
          </a:p>
        </p:txBody>
      </p:sp>
      <p:sp>
        <p:nvSpPr>
          <p:cNvPr id="7" name="Text 5"/>
          <p:cNvSpPr txBox="1"/>
          <p:nvPr/>
        </p:nvSpPr>
        <p:spPr>
          <a:xfrm>
            <a:off x="932688" y="3017520"/>
            <a:ext cx="4718304" cy="274320"/>
          </a:xfrm>
          <a:prstGeom prst="rect">
            <a:avLst/>
          </a:prstGeom>
          <a:noFill/>
          <a:ln/>
        </p:spPr>
        <p:txBody>
          <a:bodyPr wrap="square" lIns="0" tIns="0" rIns="0" bIns="0" rtlCol="0" anchor="ctr"/>
          <a:lstStyle/>
          <a:p>
            <a:pPr indent="0" marL="0">
              <a:buNone/>
            </a:pPr>
            <a:r>
              <a:rPr lang="en-US" sz="1100" b="1" i="1" dirty="0">
                <a:solidFill>
                  <a:srgbClr val="C8102E"/>
                </a:solidFill>
                <a:latin typeface="Calibri" pitchFamily="34" charset="0"/>
                <a:ea typeface="Calibri" pitchFamily="34" charset="-122"/>
                <a:cs typeface="Calibri" pitchFamily="34" charset="-120"/>
              </a:rPr>
              <a:t>Available to all taxpayers</a:t>
            </a:r>
            <a:endParaRPr lang="en-US" sz="1100" dirty="0"/>
          </a:p>
        </p:txBody>
      </p:sp>
      <p:sp>
        <p:nvSpPr>
          <p:cNvPr id="8" name="Shape 6"/>
          <p:cNvSpPr/>
          <p:nvPr/>
        </p:nvSpPr>
        <p:spPr>
          <a:xfrm>
            <a:off x="6217920" y="1645920"/>
            <a:ext cx="5303520" cy="1783080"/>
          </a:xfrm>
          <a:prstGeom prst="roundRect">
            <a:avLst>
              <a:gd name="adj" fmla="val 4103"/>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9" name="Text 7"/>
          <p:cNvSpPr txBox="1"/>
          <p:nvPr/>
        </p:nvSpPr>
        <p:spPr>
          <a:xfrm>
            <a:off x="6510528" y="1847088"/>
            <a:ext cx="4718304" cy="36576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Declining balance</a:t>
            </a:r>
            <a:endParaRPr lang="en-US" sz="1900" dirty="0"/>
          </a:p>
        </p:txBody>
      </p:sp>
      <p:sp>
        <p:nvSpPr>
          <p:cNvPr id="10" name="Text 8"/>
          <p:cNvSpPr txBox="1"/>
          <p:nvPr/>
        </p:nvSpPr>
        <p:spPr>
          <a:xfrm>
            <a:off x="6510528" y="2267712"/>
            <a:ext cx="4718304" cy="7315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Twice the normal rate, capped at 50%, applied to net book value. The final year's balance is written off in full.</a:t>
            </a:r>
            <a:endParaRPr lang="en-US" sz="1250" dirty="0"/>
          </a:p>
        </p:txBody>
      </p:sp>
      <p:sp>
        <p:nvSpPr>
          <p:cNvPr id="11" name="Text 9"/>
          <p:cNvSpPr txBox="1"/>
          <p:nvPr/>
        </p:nvSpPr>
        <p:spPr>
          <a:xfrm>
            <a:off x="6510528" y="3017520"/>
            <a:ext cx="4718304" cy="274320"/>
          </a:xfrm>
          <a:prstGeom prst="rect">
            <a:avLst/>
          </a:prstGeom>
          <a:noFill/>
          <a:ln/>
        </p:spPr>
        <p:txBody>
          <a:bodyPr wrap="square" lIns="0" tIns="0" rIns="0" bIns="0" rtlCol="0" anchor="ctr"/>
          <a:lstStyle/>
          <a:p>
            <a:pPr indent="0" marL="0">
              <a:buNone/>
            </a:pPr>
            <a:r>
              <a:rPr lang="en-US" sz="1100" b="1" i="1" dirty="0">
                <a:solidFill>
                  <a:srgbClr val="C8102E"/>
                </a:solidFill>
                <a:latin typeface="Calibri" pitchFamily="34" charset="0"/>
                <a:ea typeface="Calibri" pitchFamily="34" charset="-122"/>
                <a:cs typeface="Calibri" pitchFamily="34" charset="-120"/>
              </a:rPr>
              <a:t>Balance-sheet taxpayers only</a:t>
            </a:r>
            <a:endParaRPr lang="en-US" sz="1100" dirty="0"/>
          </a:p>
        </p:txBody>
      </p:sp>
      <p:sp>
        <p:nvSpPr>
          <p:cNvPr id="12" name="Shape 10"/>
          <p:cNvSpPr/>
          <p:nvPr/>
        </p:nvSpPr>
        <p:spPr>
          <a:xfrm>
            <a:off x="640080" y="3657600"/>
            <a:ext cx="5303520" cy="1783080"/>
          </a:xfrm>
          <a:prstGeom prst="roundRect">
            <a:avLst>
              <a:gd name="adj" fmla="val 4103"/>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3" name="Text 11"/>
          <p:cNvSpPr txBox="1"/>
          <p:nvPr/>
        </p:nvSpPr>
        <p:spPr>
          <a:xfrm>
            <a:off x="932688" y="3858768"/>
            <a:ext cx="4718304" cy="36576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Daily basis</a:t>
            </a:r>
            <a:endParaRPr lang="en-US" sz="1900" dirty="0"/>
          </a:p>
        </p:txBody>
      </p:sp>
      <p:sp>
        <p:nvSpPr>
          <p:cNvPr id="14" name="Text 12"/>
          <p:cNvSpPr txBox="1"/>
          <p:nvPr/>
        </p:nvSpPr>
        <p:spPr>
          <a:xfrm>
            <a:off x="932688" y="4279392"/>
            <a:ext cx="4718304" cy="7315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Depreciation runs from the day of acquisition rather than taking a full year.</a:t>
            </a:r>
            <a:endParaRPr lang="en-US" sz="1250" dirty="0"/>
          </a:p>
        </p:txBody>
      </p:sp>
      <p:sp>
        <p:nvSpPr>
          <p:cNvPr id="15" name="Text 13"/>
          <p:cNvSpPr txBox="1"/>
          <p:nvPr/>
        </p:nvSpPr>
        <p:spPr>
          <a:xfrm>
            <a:off x="932688" y="5029200"/>
            <a:ext cx="4718304" cy="274320"/>
          </a:xfrm>
          <a:prstGeom prst="rect">
            <a:avLst/>
          </a:prstGeom>
          <a:noFill/>
          <a:ln/>
        </p:spPr>
        <p:txBody>
          <a:bodyPr wrap="square" lIns="0" tIns="0" rIns="0" bIns="0" rtlCol="0" anchor="ctr"/>
          <a:lstStyle/>
          <a:p>
            <a:pPr indent="0" marL="0">
              <a:buNone/>
            </a:pPr>
            <a:r>
              <a:rPr lang="en-US" sz="1100" b="1" i="1" dirty="0">
                <a:solidFill>
                  <a:srgbClr val="C8102E"/>
                </a:solidFill>
                <a:latin typeface="Calibri" pitchFamily="34" charset="0"/>
                <a:ea typeface="Calibri" pitchFamily="34" charset="-122"/>
                <a:cs typeface="Calibri" pitchFamily="34" charset="-120"/>
              </a:rPr>
              <a:t>Optional, since 2021</a:t>
            </a:r>
            <a:endParaRPr lang="en-US" sz="1100" dirty="0"/>
          </a:p>
        </p:txBody>
      </p:sp>
      <p:sp>
        <p:nvSpPr>
          <p:cNvPr id="16" name="Shape 14"/>
          <p:cNvSpPr/>
          <p:nvPr/>
        </p:nvSpPr>
        <p:spPr>
          <a:xfrm>
            <a:off x="6217920" y="3657600"/>
            <a:ext cx="5303520" cy="1783080"/>
          </a:xfrm>
          <a:prstGeom prst="roundRect">
            <a:avLst>
              <a:gd name="adj" fmla="val 4103"/>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7" name="Text 15"/>
          <p:cNvSpPr txBox="1"/>
          <p:nvPr/>
        </p:nvSpPr>
        <p:spPr>
          <a:xfrm>
            <a:off x="6510528" y="3858768"/>
            <a:ext cx="4718304" cy="36576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Longer useful life</a:t>
            </a:r>
            <a:endParaRPr lang="en-US" sz="1900" dirty="0"/>
          </a:p>
        </p:txBody>
      </p:sp>
      <p:sp>
        <p:nvSpPr>
          <p:cNvPr id="18" name="Text 16"/>
          <p:cNvSpPr txBox="1"/>
          <p:nvPr/>
        </p:nvSpPr>
        <p:spPr>
          <a:xfrm>
            <a:off x="6510528" y="4279392"/>
            <a:ext cx="4718304" cy="7315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 life up to twice the official one may be elected, never beyond 50 years, at the same rate each year.</a:t>
            </a:r>
            <a:endParaRPr lang="en-US" sz="1250" dirty="0"/>
          </a:p>
        </p:txBody>
      </p:sp>
      <p:sp>
        <p:nvSpPr>
          <p:cNvPr id="19" name="Text 17"/>
          <p:cNvSpPr txBox="1"/>
          <p:nvPr/>
        </p:nvSpPr>
        <p:spPr>
          <a:xfrm>
            <a:off x="6510528" y="5029200"/>
            <a:ext cx="4718304" cy="274320"/>
          </a:xfrm>
          <a:prstGeom prst="rect">
            <a:avLst/>
          </a:prstGeom>
          <a:noFill/>
          <a:ln/>
        </p:spPr>
        <p:txBody>
          <a:bodyPr wrap="square" lIns="0" tIns="0" rIns="0" bIns="0" rtlCol="0" anchor="ctr"/>
          <a:lstStyle/>
          <a:p>
            <a:pPr indent="0" marL="0">
              <a:buNone/>
            </a:pPr>
            <a:r>
              <a:rPr lang="en-US" sz="1100" b="1" i="1" dirty="0">
                <a:solidFill>
                  <a:srgbClr val="C8102E"/>
                </a:solidFill>
                <a:latin typeface="Calibri" pitchFamily="34" charset="0"/>
                <a:ea typeface="Calibri" pitchFamily="34" charset="-122"/>
                <a:cs typeface="Calibri" pitchFamily="34" charset="-120"/>
              </a:rPr>
              <a:t>Optional, since 2021</a:t>
            </a:r>
            <a:endParaRPr lang="en-US" sz="1100" dirty="0"/>
          </a:p>
        </p:txBody>
      </p:sp>
      <p:sp>
        <p:nvSpPr>
          <p:cNvPr id="20" name="Text 18"/>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A taxpayer may switch from declining balance to straight-line, but never the other way. Once made, the election binds the asset for its life.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WORKED EXAMPLE · MACHINERY, TRY 4.8M, 10 YEARS</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Straight-line vs declining balance</a:t>
            </a:r>
            <a:endParaRPr lang="en-US" sz="3200" dirty="0"/>
          </a:p>
        </p:txBody>
      </p:sp>
      <p:graphicFrame>
        <p:nvGraphicFramePr>
          <p:cNvPr id="4" name="Chart 0" descr=""/>
          <p:cNvGraphicFramePr/>
          <p:nvPr/>
        </p:nvGraphicFramePr>
        <p:xfrm>
          <a:off x="640080" y="1691640"/>
          <a:ext cx="7223760" cy="3886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691640"/>
            <a:ext cx="3429000" cy="3886200"/>
          </a:xfrm>
          <a:prstGeom prst="roundRect">
            <a:avLst>
              <a:gd name="adj" fmla="val 2133"/>
            </a:avLst>
          </a:prstGeom>
          <a:solidFill>
            <a:srgbClr val="EEF2F8"/>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6" name="Text 3"/>
          <p:cNvSpPr txBox="1"/>
          <p:nvPr/>
        </p:nvSpPr>
        <p:spPr>
          <a:xfrm>
            <a:off x="8366760" y="1874520"/>
            <a:ext cx="2926080" cy="32004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What changes</a:t>
            </a:r>
            <a:endParaRPr lang="en-US" sz="1500" dirty="0"/>
          </a:p>
        </p:txBody>
      </p:sp>
      <p:sp>
        <p:nvSpPr>
          <p:cNvPr id="7" name="Text 4"/>
          <p:cNvSpPr txBox="1"/>
          <p:nvPr/>
        </p:nvSpPr>
        <p:spPr>
          <a:xfrm>
            <a:off x="8366760" y="2286000"/>
            <a:ext cx="2926080" cy="777240"/>
          </a:xfrm>
          <a:prstGeom prst="rect">
            <a:avLst/>
          </a:prstGeom>
          <a:noFill/>
          <a:ln/>
        </p:spPr>
        <p:txBody>
          <a:bodyPr wrap="square" lIns="0" tIns="0" rIns="0" bIns="0" rtlCol="0" anchor="ctr"/>
          <a:lstStyle/>
          <a:p>
            <a:pPr algn="l" indent="0" marL="0">
              <a:buNone/>
            </a:pPr>
            <a:r>
              <a:rPr lang="en-US" sz="4000" b="1" dirty="0">
                <a:solidFill>
                  <a:srgbClr val="C8102E"/>
                </a:solidFill>
                <a:latin typeface="Cambria" pitchFamily="34" charset="0"/>
                <a:ea typeface="Cambria" pitchFamily="34" charset="-122"/>
                <a:cs typeface="Cambria" pitchFamily="34" charset="-120"/>
              </a:rPr>
              <a:t>TRY 960,000</a:t>
            </a:r>
            <a:endParaRPr lang="en-US" sz="4000" dirty="0"/>
          </a:p>
        </p:txBody>
      </p:sp>
      <p:sp>
        <p:nvSpPr>
          <p:cNvPr id="8" name="Text 5"/>
          <p:cNvSpPr txBox="1"/>
          <p:nvPr/>
        </p:nvSpPr>
        <p:spPr>
          <a:xfrm>
            <a:off x="8366760" y="3035808"/>
            <a:ext cx="2926080" cy="6858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Year 1 under declining balance, against 480,000 straight-line.</a:t>
            </a:r>
            <a:endParaRPr lang="en-US" sz="1200" dirty="0"/>
          </a:p>
        </p:txBody>
      </p:sp>
      <p:sp>
        <p:nvSpPr>
          <p:cNvPr id="9" name="Text 6"/>
          <p:cNvSpPr txBox="1"/>
          <p:nvPr/>
        </p:nvSpPr>
        <p:spPr>
          <a:xfrm>
            <a:off x="8366760" y="3703320"/>
            <a:ext cx="2926080" cy="32004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What does not change</a:t>
            </a:r>
            <a:endParaRPr lang="en-US" sz="1500" dirty="0"/>
          </a:p>
        </p:txBody>
      </p:sp>
      <p:sp>
        <p:nvSpPr>
          <p:cNvPr id="10" name="Text 7"/>
          <p:cNvSpPr txBox="1"/>
          <p:nvPr/>
        </p:nvSpPr>
        <p:spPr>
          <a:xfrm>
            <a:off x="8366760" y="4114800"/>
            <a:ext cx="2926080" cy="777240"/>
          </a:xfrm>
          <a:prstGeom prst="rect">
            <a:avLst/>
          </a:prstGeom>
          <a:noFill/>
          <a:ln/>
        </p:spPr>
        <p:txBody>
          <a:bodyPr wrap="square" lIns="0" tIns="0" rIns="0" bIns="0" rtlCol="0" anchor="ctr"/>
          <a:lstStyle/>
          <a:p>
            <a:pPr algn="l" indent="0" marL="0">
              <a:buNone/>
            </a:pPr>
            <a:r>
              <a:rPr lang="en-US" sz="4000" b="1" dirty="0">
                <a:solidFill>
                  <a:srgbClr val="1E7A46"/>
                </a:solidFill>
                <a:latin typeface="Cambria" pitchFamily="34" charset="0"/>
                <a:ea typeface="Cambria" pitchFamily="34" charset="-122"/>
                <a:cs typeface="Cambria" pitchFamily="34" charset="-120"/>
              </a:rPr>
              <a:t>TRY 0</a:t>
            </a:r>
            <a:endParaRPr lang="en-US" sz="4000" dirty="0"/>
          </a:p>
        </p:txBody>
      </p:sp>
      <p:sp>
        <p:nvSpPr>
          <p:cNvPr id="11" name="Text 8"/>
          <p:cNvSpPr txBox="1"/>
          <p:nvPr/>
        </p:nvSpPr>
        <p:spPr>
          <a:xfrm>
            <a:off x="8366760" y="4864608"/>
            <a:ext cx="2926080" cy="6858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Difference in total deductions over the asset's life.</a:t>
            </a:r>
            <a:endParaRPr lang="en-US" sz="1200" dirty="0"/>
          </a:p>
        </p:txBody>
      </p:sp>
      <p:sp>
        <p:nvSpPr>
          <p:cNvPr id="12" name="Text 9"/>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Declining balance is a timing benefit, not a permanent saving. Under persistent inflation and high nominal rates that timing is economically material. Source: model tab 'Ex2 SL vs Declining'.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2026 RESTRICTIONS</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Passenger cars carry caps no other asset has</a:t>
            </a:r>
            <a:endParaRPr lang="en-US" sz="3200" dirty="0"/>
          </a:p>
        </p:txBody>
      </p:sp>
      <p:sp>
        <p:nvSpPr>
          <p:cNvPr id="4" name="Shape 2"/>
          <p:cNvSpPr/>
          <p:nvPr/>
        </p:nvSpPr>
        <p:spPr>
          <a:xfrm>
            <a:off x="640080" y="1691640"/>
            <a:ext cx="2617470" cy="1828800"/>
          </a:xfrm>
          <a:prstGeom prst="roundRect">
            <a:avLst>
              <a:gd name="adj" fmla="val 4000"/>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5" name="Text 3"/>
          <p:cNvSpPr txBox="1"/>
          <p:nvPr/>
        </p:nvSpPr>
        <p:spPr>
          <a:xfrm>
            <a:off x="777240" y="1965960"/>
            <a:ext cx="2343150" cy="548640"/>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TRY 1,380,000</a:t>
            </a:r>
            <a:endParaRPr lang="en-US" sz="2200" dirty="0"/>
          </a:p>
        </p:txBody>
      </p:sp>
      <p:sp>
        <p:nvSpPr>
          <p:cNvPr id="6" name="Text 4"/>
          <p:cNvSpPr txBox="1"/>
          <p:nvPr/>
        </p:nvSpPr>
        <p:spPr>
          <a:xfrm>
            <a:off x="777240" y="2560320"/>
            <a:ext cx="2343150" cy="82296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Depreciable cost cap</a:t>
            </a:r>
            <a:endParaRPr lang="en-US" sz="1150" dirty="0"/>
          </a:p>
          <a:p>
            <a:pPr algn="ctr" indent="0" marL="0">
              <a:buNone/>
            </a:pPr>
            <a:r>
              <a:rPr lang="en-US" sz="1150" dirty="0">
                <a:solidFill>
                  <a:srgbClr val="6B7280"/>
                </a:solidFill>
                <a:latin typeface="Calibri" pitchFamily="34" charset="0"/>
                <a:ea typeface="Calibri" pitchFamily="34" charset="-122"/>
                <a:cs typeface="Calibri" pitchFamily="34" charset="-120"/>
              </a:rPr>
              <a:t>ÖTV and VAT excluded</a:t>
            </a:r>
            <a:endParaRPr lang="en-US" sz="1150" dirty="0"/>
          </a:p>
        </p:txBody>
      </p:sp>
      <p:sp>
        <p:nvSpPr>
          <p:cNvPr id="7" name="Shape 5"/>
          <p:cNvSpPr/>
          <p:nvPr/>
        </p:nvSpPr>
        <p:spPr>
          <a:xfrm>
            <a:off x="3394710" y="1691640"/>
            <a:ext cx="2617470" cy="1828800"/>
          </a:xfrm>
          <a:prstGeom prst="roundRect">
            <a:avLst>
              <a:gd name="adj" fmla="val 4000"/>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8" name="Text 6"/>
          <p:cNvSpPr txBox="1"/>
          <p:nvPr/>
        </p:nvSpPr>
        <p:spPr>
          <a:xfrm>
            <a:off x="3531870" y="1965960"/>
            <a:ext cx="2343150" cy="548640"/>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TRY 2,600,000</a:t>
            </a:r>
            <a:endParaRPr lang="en-US" sz="2200" dirty="0"/>
          </a:p>
        </p:txBody>
      </p:sp>
      <p:sp>
        <p:nvSpPr>
          <p:cNvPr id="9" name="Text 7"/>
          <p:cNvSpPr txBox="1"/>
          <p:nvPr/>
        </p:nvSpPr>
        <p:spPr>
          <a:xfrm>
            <a:off x="3531870" y="2560320"/>
            <a:ext cx="2343150" cy="82296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Depreciable cost cap</a:t>
            </a:r>
            <a:endParaRPr lang="en-US" sz="1150" dirty="0"/>
          </a:p>
          <a:p>
            <a:pPr algn="ctr" indent="0" marL="0">
              <a:buNone/>
            </a:pPr>
            <a:r>
              <a:rPr lang="en-US" sz="1150" dirty="0">
                <a:solidFill>
                  <a:srgbClr val="6B7280"/>
                </a:solidFill>
                <a:latin typeface="Calibri" pitchFamily="34" charset="0"/>
                <a:ea typeface="Calibri" pitchFamily="34" charset="-122"/>
                <a:cs typeface="Calibri" pitchFamily="34" charset="-120"/>
              </a:rPr>
              <a:t>ÖTV and VAT capitalised</a:t>
            </a:r>
            <a:endParaRPr lang="en-US" sz="1150" dirty="0"/>
          </a:p>
        </p:txBody>
      </p:sp>
      <p:sp>
        <p:nvSpPr>
          <p:cNvPr id="10" name="Shape 8"/>
          <p:cNvSpPr/>
          <p:nvPr/>
        </p:nvSpPr>
        <p:spPr>
          <a:xfrm>
            <a:off x="6149340" y="1691640"/>
            <a:ext cx="2617470" cy="1828800"/>
          </a:xfrm>
          <a:prstGeom prst="roundRect">
            <a:avLst>
              <a:gd name="adj" fmla="val 4000"/>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1" name="Text 9"/>
          <p:cNvSpPr txBox="1"/>
          <p:nvPr/>
        </p:nvSpPr>
        <p:spPr>
          <a:xfrm>
            <a:off x="6286500" y="1965960"/>
            <a:ext cx="2343150" cy="548640"/>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TRY 1,200,000</a:t>
            </a:r>
            <a:endParaRPr lang="en-US" sz="2200" dirty="0"/>
          </a:p>
        </p:txBody>
      </p:sp>
      <p:sp>
        <p:nvSpPr>
          <p:cNvPr id="12" name="Text 10"/>
          <p:cNvSpPr txBox="1"/>
          <p:nvPr/>
        </p:nvSpPr>
        <p:spPr>
          <a:xfrm>
            <a:off x="6286500" y="2560320"/>
            <a:ext cx="2343150" cy="82296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ÖTV and VAT cap</a:t>
            </a:r>
            <a:endParaRPr lang="en-US" sz="1150" dirty="0"/>
          </a:p>
          <a:p>
            <a:pPr algn="ctr" indent="0" marL="0">
              <a:buNone/>
            </a:pPr>
            <a:r>
              <a:rPr lang="en-US" sz="1150" dirty="0">
                <a:solidFill>
                  <a:srgbClr val="6B7280"/>
                </a:solidFill>
                <a:latin typeface="Calibri" pitchFamily="34" charset="0"/>
                <a:ea typeface="Calibri" pitchFamily="34" charset="-122"/>
                <a:cs typeface="Calibri" pitchFamily="34" charset="-120"/>
              </a:rPr>
              <a:t>if expensed directly</a:t>
            </a:r>
            <a:endParaRPr lang="en-US" sz="1150" dirty="0"/>
          </a:p>
        </p:txBody>
      </p:sp>
      <p:sp>
        <p:nvSpPr>
          <p:cNvPr id="13" name="Shape 11"/>
          <p:cNvSpPr/>
          <p:nvPr/>
        </p:nvSpPr>
        <p:spPr>
          <a:xfrm>
            <a:off x="8903970" y="1691640"/>
            <a:ext cx="2617470" cy="1828800"/>
          </a:xfrm>
          <a:prstGeom prst="roundRect">
            <a:avLst>
              <a:gd name="adj" fmla="val 4000"/>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4" name="Text 12"/>
          <p:cNvSpPr txBox="1"/>
          <p:nvPr/>
        </p:nvSpPr>
        <p:spPr>
          <a:xfrm>
            <a:off x="9041130" y="1965960"/>
            <a:ext cx="2343150" cy="548640"/>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TRY 46,000</a:t>
            </a:r>
            <a:endParaRPr lang="en-US" sz="2200" dirty="0"/>
          </a:p>
        </p:txBody>
      </p:sp>
      <p:sp>
        <p:nvSpPr>
          <p:cNvPr id="15" name="Text 13"/>
          <p:cNvSpPr txBox="1"/>
          <p:nvPr/>
        </p:nvSpPr>
        <p:spPr>
          <a:xfrm>
            <a:off x="9041130" y="2560320"/>
            <a:ext cx="2343150" cy="82296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Monthly rental cap</a:t>
            </a:r>
            <a:endParaRPr lang="en-US" sz="1150" dirty="0"/>
          </a:p>
          <a:p>
            <a:pPr algn="ctr" indent="0" marL="0">
              <a:buNone/>
            </a:pPr>
            <a:r>
              <a:rPr lang="en-US" sz="1150" dirty="0">
                <a:solidFill>
                  <a:srgbClr val="6B7280"/>
                </a:solidFill>
                <a:latin typeface="Calibri" pitchFamily="34" charset="0"/>
                <a:ea typeface="Calibri" pitchFamily="34" charset="-122"/>
                <a:cs typeface="Calibri" pitchFamily="34" charset="-120"/>
              </a:rPr>
              <a:t>VAT excluded</a:t>
            </a:r>
            <a:endParaRPr lang="en-US" sz="1150" dirty="0"/>
          </a:p>
        </p:txBody>
      </p:sp>
      <p:sp>
        <p:nvSpPr>
          <p:cNvPr id="16" name="Shape 14"/>
          <p:cNvSpPr/>
          <p:nvPr/>
        </p:nvSpPr>
        <p:spPr>
          <a:xfrm>
            <a:off x="640080" y="3749040"/>
            <a:ext cx="10881360" cy="1874520"/>
          </a:xfrm>
          <a:prstGeom prst="roundRect">
            <a:avLst>
              <a:gd name="adj" fmla="val 3902"/>
            </a:avLst>
          </a:prstGeom>
          <a:solidFill>
            <a:srgbClr val="EEF2F8"/>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17" name="Text 15"/>
          <p:cNvSpPr txBox="1"/>
          <p:nvPr/>
        </p:nvSpPr>
        <p:spPr>
          <a:xfrm>
            <a:off x="960120" y="3931920"/>
            <a:ext cx="4572000" cy="32004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Two consequences</a:t>
            </a:r>
            <a:endParaRPr lang="en-US" sz="1500" dirty="0"/>
          </a:p>
        </p:txBody>
      </p:sp>
      <p:sp>
        <p:nvSpPr>
          <p:cNvPr id="18" name="Text 16"/>
          <p:cNvSpPr txBox="1"/>
          <p:nvPr/>
        </p:nvSpPr>
        <p:spPr>
          <a:xfrm>
            <a:off x="960120" y="4315968"/>
            <a:ext cx="10241280" cy="11430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Cost above the cap is permanently non-deductible. It never reverses, so it is a permanent difference in the tax reconciliation, not a temporary one.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First-year depreciation is pro-rated from the month of acquisition. The portion not taken in year 1 is deducted in the year after the useful life ends.</a:t>
            </a:r>
            <a:endParaRPr lang="en-US" sz="1300" dirty="0"/>
          </a:p>
        </p:txBody>
      </p:sp>
      <p:sp>
        <p:nvSpPr>
          <p:cNvPr id="19" name="Text 17"/>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Income Tax Law Art. 40/1, 40/5 and 40/7; 2026 amounts per Income Tax General Communiqué No. 332. Pro-rata rule: VUK Art. 320.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WORKED EXAMPLE · CAR AT TRY 2.0M + TRY 1.6M TAXES, BOUGHT IN APRIL</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The purchase structure changes the deduction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589520" cy="914400"/>
        </p:xfrm>
        <a:graphic>
          <a:graphicData uri="http://schemas.openxmlformats.org/drawingml/2006/table">
            <a:tbl>
              <a:tblPr/>
              <a:tblGrid>
                <a:gridCol w="3657600"/>
                <a:gridCol w="1965960"/>
                <a:gridCol w="1965960"/>
              </a:tblGrid>
              <a:tr h="384048">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Option A</a:t>
                      </a:r>
                      <a:endParaRPr lang="en-US" sz="1250" dirty="0">
                        <a:latin typeface="Calibri" charset="0"/>
                        <a:ea typeface="Calibri" charset="0"/>
                        <a:cs typeface="Calibri" charset="0"/>
                      </a:endParaRPr>
                    </a:p>
                    <a:p>
                      <a:pPr algn="ctr" indent="0" marL="0">
                        <a:buNone/>
                      </a:pPr>
                      <a:r>
                        <a:rPr lang="en-US" sz="1250" b="1" dirty="0">
                          <a:solidFill>
                            <a:srgbClr val="FFFFFF"/>
                          </a:solidFill>
                          <a:latin typeface="Calibri" pitchFamily="34" charset="0"/>
                          <a:ea typeface="Calibri" pitchFamily="34" charset="-122"/>
                          <a:cs typeface="Calibri" pitchFamily="34" charset="-120"/>
                        </a:rPr>
                        <a:t>Taxes expensed</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Option B</a:t>
                      </a:r>
                      <a:endParaRPr lang="en-US" sz="1250" dirty="0">
                        <a:latin typeface="Calibri" charset="0"/>
                        <a:ea typeface="Calibri" charset="0"/>
                        <a:cs typeface="Calibri" charset="0"/>
                      </a:endParaRPr>
                    </a:p>
                    <a:p>
                      <a:pPr algn="ctr" indent="0" marL="0">
                        <a:buNone/>
                      </a:pPr>
                      <a:r>
                        <a:rPr lang="en-US" sz="1250" b="1" dirty="0">
                          <a:solidFill>
                            <a:srgbClr val="FFFFFF"/>
                          </a:solidFill>
                          <a:latin typeface="Calibri" pitchFamily="34" charset="0"/>
                          <a:ea typeface="Calibri" pitchFamily="34" charset="-122"/>
                          <a:cs typeface="Calibri" pitchFamily="34" charset="-120"/>
                        </a:rPr>
                        <a:t>Taxes capitalised</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r>
              <a:tr h="384048">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Depreciable base after cap</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1,380,000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2,600,000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Taxes deducted in year 1</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1,200,000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Year 1 depreciation (9 months)</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207,000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390,000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Years 2–5, each</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276,000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520,000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Year 6 (pro-rata catch-up)</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69,000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1A"/>
                          </a:solidFill>
                          <a:latin typeface="Calibri" pitchFamily="34" charset="0"/>
                          <a:ea typeface="Calibri" pitchFamily="34" charset="-122"/>
                          <a:cs typeface="Calibri" pitchFamily="34" charset="-120"/>
                        </a:rPr>
                        <a:t>130,000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Total deduction over life</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1A1A"/>
                          </a:solidFill>
                          <a:latin typeface="Calibri" pitchFamily="34" charset="0"/>
                          <a:ea typeface="Calibri" pitchFamily="34" charset="-122"/>
                          <a:cs typeface="Calibri" pitchFamily="34" charset="-120"/>
                        </a:rPr>
                        <a:t>2,580,000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1A1A"/>
                          </a:solidFill>
                          <a:latin typeface="Calibri" pitchFamily="34" charset="0"/>
                          <a:ea typeface="Calibri" pitchFamily="34" charset="-122"/>
                          <a:cs typeface="Calibri" pitchFamily="34" charset="-120"/>
                        </a:rPr>
                        <a:t>2,600,000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C8102E"/>
                          </a:solidFill>
                          <a:latin typeface="Calibri" pitchFamily="34" charset="0"/>
                          <a:ea typeface="Calibri" pitchFamily="34" charset="-122"/>
                          <a:cs typeface="Calibri" pitchFamily="34" charset="-120"/>
                        </a:rPr>
                        <a:t>Permanently disallowed</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8102E"/>
                          </a:solidFill>
                          <a:latin typeface="Calibri" pitchFamily="34" charset="0"/>
                          <a:ea typeface="Calibri" pitchFamily="34" charset="-122"/>
                          <a:cs typeface="Calibri" pitchFamily="34" charset="-120"/>
                        </a:rPr>
                        <a:t>1,020,000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8102E"/>
                          </a:solidFill>
                          <a:latin typeface="Calibri" pitchFamily="34" charset="0"/>
                          <a:ea typeface="Calibri" pitchFamily="34" charset="-122"/>
                          <a:cs typeface="Calibri" pitchFamily="34" charset="-120"/>
                        </a:rPr>
                        <a:t>1,000,000</a:t>
                      </a:r>
                      <a:endParaRPr lang="en-US" sz="125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bl>
          </a:graphicData>
        </a:graphic>
      </p:graphicFrame>
      <p:sp>
        <p:nvSpPr>
          <p:cNvPr id="5" name="Shape 2"/>
          <p:cNvSpPr/>
          <p:nvPr/>
        </p:nvSpPr>
        <p:spPr>
          <a:xfrm>
            <a:off x="8549640" y="1783080"/>
            <a:ext cx="2971800" cy="3566160"/>
          </a:xfrm>
          <a:prstGeom prst="roundRect">
            <a:avLst>
              <a:gd name="adj" fmla="val 2462"/>
            </a:avLst>
          </a:prstGeom>
          <a:solidFill>
            <a:srgbClr val="EEF2F8"/>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6" name="Text 3"/>
          <p:cNvSpPr txBox="1"/>
          <p:nvPr/>
        </p:nvSpPr>
        <p:spPr>
          <a:xfrm>
            <a:off x="8778240" y="1965960"/>
            <a:ext cx="2560320" cy="32004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Read this before buying</a:t>
            </a:r>
            <a:endParaRPr lang="en-US" sz="1400" dirty="0"/>
          </a:p>
        </p:txBody>
      </p:sp>
      <p:sp>
        <p:nvSpPr>
          <p:cNvPr id="7" name="Text 4"/>
          <p:cNvSpPr txBox="1"/>
          <p:nvPr/>
        </p:nvSpPr>
        <p:spPr>
          <a:xfrm>
            <a:off x="8778240" y="2377440"/>
            <a:ext cx="2606040" cy="27889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The choice is made once, at acquisition, and cannot be revisited.</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At this price point Option B deducts TRY 20,000 more in total.</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Option A front-loads: 1.2m is deducted in year 1 rather than spread over five.</a:t>
            </a:r>
            <a:endParaRPr lang="en-US" sz="1150" dirty="0"/>
          </a:p>
          <a:p>
            <a:pPr marL="342900" indent="-342900">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The ranking flips at other price points. Run both.</a:t>
            </a:r>
            <a:endParaRPr lang="en-US" sz="1150" dirty="0"/>
          </a:p>
        </p:txBody>
      </p:sp>
      <p:sp>
        <p:nvSpPr>
          <p:cNvPr id="8" name="Text 5"/>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Figures computed in the accompanying model, tab 'Ex3 Passenger Car'. Change the price, tax and purchase month to re-run.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INTANGIBLES AND SPECIAL ITEMS</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Intangibles: classification decides the outcome</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7498080" cy="914400"/>
        </p:xfrm>
        <a:graphic>
          <a:graphicData uri="http://schemas.openxmlformats.org/drawingml/2006/table">
            <a:tbl>
              <a:tblPr/>
              <a:tblGrid>
                <a:gridCol w="3200400"/>
                <a:gridCol w="1371600"/>
                <a:gridCol w="292608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Basis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B2A4A"/>
                    </a:solidFill>
                  </a:tcPr>
                </a:tc>
              </a:tr>
              <a:tr h="41148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Computer software</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3 years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Depreciation List item 4.3</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Licence or intangible right</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15 years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Patents, know-how, licences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Leasehold improvements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Lease term</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VUK Art. 327, equal percentages; declining balance not allowed</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Leasehold improvements, term unknown</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5 years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VUK Art. 327</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Goodwill</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5 years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VUK Art. 326, equal instalments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Formation and organisation expenses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5 years</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VUK Art. 326, or expensed as incurred</a:t>
                      </a:r>
                      <a:endParaRPr lang="en-US" sz="1200" dirty="0">
                        <a:latin typeface="Calibri" charset="0"/>
                        <a:ea typeface="Calibri" charset="0"/>
                        <a:cs typeface="Calibri" charset="0"/>
                      </a:endParaRPr>
                    </a:p>
                  </a:txBody>
                  <a:tcPr marL="91440" marR="91440"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bl>
          </a:graphicData>
        </a:graphic>
      </p:graphicFrame>
      <p:sp>
        <p:nvSpPr>
          <p:cNvPr id="5" name="Shape 2"/>
          <p:cNvSpPr/>
          <p:nvPr/>
        </p:nvSpPr>
        <p:spPr>
          <a:xfrm>
            <a:off x="8458200" y="1737360"/>
            <a:ext cx="3063240" cy="3246120"/>
          </a:xfrm>
          <a:prstGeom prst="roundRect">
            <a:avLst>
              <a:gd name="adj" fmla="val 2388"/>
            </a:avLst>
          </a:prstGeom>
          <a:solidFill>
            <a:srgbClr val="F7F9FC"/>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6" name="Text 3"/>
          <p:cNvSpPr txBox="1"/>
          <p:nvPr/>
        </p:nvSpPr>
        <p:spPr>
          <a:xfrm>
            <a:off x="8686800" y="1920240"/>
            <a:ext cx="2697480" cy="54864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Same payment, five times the wait</a:t>
            </a:r>
            <a:endParaRPr lang="en-US" sz="1400" dirty="0"/>
          </a:p>
        </p:txBody>
      </p:sp>
      <p:sp>
        <p:nvSpPr>
          <p:cNvPr id="7" name="Text 4"/>
          <p:cNvSpPr txBox="1"/>
          <p:nvPr/>
        </p:nvSpPr>
        <p:spPr>
          <a:xfrm>
            <a:off x="8686800" y="2514600"/>
            <a:ext cx="2697480" cy="777240"/>
          </a:xfrm>
          <a:prstGeom prst="rect">
            <a:avLst/>
          </a:prstGeom>
          <a:noFill/>
          <a:ln/>
        </p:spPr>
        <p:txBody>
          <a:bodyPr wrap="square" lIns="0" tIns="0" rIns="0" bIns="0" rtlCol="0" anchor="ctr"/>
          <a:lstStyle/>
          <a:p>
            <a:pPr algn="l" indent="0" marL="0">
              <a:buNone/>
            </a:pPr>
            <a:r>
              <a:rPr lang="en-US" sz="4000" b="1" dirty="0">
                <a:solidFill>
                  <a:srgbClr val="C8102E"/>
                </a:solidFill>
                <a:latin typeface="Cambria" pitchFamily="34" charset="0"/>
                <a:ea typeface="Cambria" pitchFamily="34" charset="-122"/>
                <a:cs typeface="Cambria" pitchFamily="34" charset="-120"/>
              </a:rPr>
              <a:t>TRY 240,000</a:t>
            </a:r>
            <a:endParaRPr lang="en-US" sz="4000" dirty="0"/>
          </a:p>
        </p:txBody>
      </p:sp>
      <p:sp>
        <p:nvSpPr>
          <p:cNvPr id="8" name="Text 5"/>
          <p:cNvSpPr txBox="1"/>
          <p:nvPr/>
        </p:nvSpPr>
        <p:spPr>
          <a:xfrm>
            <a:off x="8686800" y="3264408"/>
            <a:ext cx="2697480" cy="6858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Annual difference on a TRY 900,000 payment, depending on whether it is booked as software or as a licence.</a:t>
            </a:r>
            <a:endParaRPr lang="en-US" sz="1200" dirty="0"/>
          </a:p>
        </p:txBody>
      </p:sp>
      <p:sp>
        <p:nvSpPr>
          <p:cNvPr id="9" name="Text 6"/>
          <p:cNvSpPr txBox="1"/>
          <p:nvPr/>
        </p:nvSpPr>
        <p:spPr>
          <a:xfrm>
            <a:off x="8686800" y="4160520"/>
            <a:ext cx="2697480" cy="73152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Decide and document the classification in the contract wording at purchase, not in the ledger afterwards.</a:t>
            </a:r>
            <a:endParaRPr lang="en-US" sz="1150" dirty="0"/>
          </a:p>
        </p:txBody>
      </p:sp>
      <p:sp>
        <p:nvSpPr>
          <p:cNvPr id="10" name="Text 7"/>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Both routes deduct the same total cost, so this is timing. Under inflation, a deduction deferred twelve years is worth a fraction of its nominal value.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640080"/>
            <a:ext cx="10881360" cy="274320"/>
          </a:xfrm>
          <a:prstGeom prst="rect">
            <a:avLst/>
          </a:prstGeom>
          <a:noFill/>
          <a:ln/>
        </p:spPr>
        <p:txBody>
          <a:bodyPr wrap="square" lIns="0" tIns="0" rIns="0" bIns="0" rtlCol="0" anchor="ctr"/>
          <a:lstStyle/>
          <a:p>
            <a:pPr indent="0" marL="0">
              <a:buNone/>
            </a:pPr>
            <a:r>
              <a:rPr lang="en-US" sz="1100" b="1" spc="200" kern="0" dirty="0">
                <a:solidFill>
                  <a:srgbClr val="8FA8D4"/>
                </a:solidFill>
                <a:latin typeface="Calibri" pitchFamily="34" charset="0"/>
                <a:ea typeface="Calibri" pitchFamily="34" charset="-122"/>
                <a:cs typeface="Calibri" pitchFamily="34" charset="-120"/>
              </a:rPr>
              <a:t>THE ITEM THAT MOVES THE NUMBERS</a:t>
            </a:r>
            <a:endParaRPr lang="en-US" sz="1100" dirty="0"/>
          </a:p>
        </p:txBody>
      </p:sp>
      <p:sp>
        <p:nvSpPr>
          <p:cNvPr id="3" name="Text 1"/>
          <p:cNvSpPr txBox="1"/>
          <p:nvPr/>
        </p:nvSpPr>
        <p:spPr>
          <a:xfrm>
            <a:off x="640080" y="960120"/>
            <a:ext cx="1088136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Inflation adjustment is suspended through 2027</a:t>
            </a:r>
            <a:endParaRPr lang="en-US" sz="3400" dirty="0"/>
          </a:p>
        </p:txBody>
      </p:sp>
      <p:sp>
        <p:nvSpPr>
          <p:cNvPr id="4" name="Text 2"/>
          <p:cNvSpPr txBox="1"/>
          <p:nvPr/>
        </p:nvSpPr>
        <p:spPr>
          <a:xfrm>
            <a:off x="640080" y="1783080"/>
            <a:ext cx="10881360" cy="7772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Law No. 7571 added Provisional Article 37 to the Tax Procedure Law (Official Gazette, 25 December 2025, No. 33118). For 2025, 2026 and 2027 financial statements are not adjusted for inflation, whether or not the statutory conditions are met. The President may extend this by up to three further periods.</a:t>
            </a:r>
            <a:endParaRPr lang="en-US" sz="1400" dirty="0"/>
          </a:p>
        </p:txBody>
      </p:sp>
      <p:sp>
        <p:nvSpPr>
          <p:cNvPr id="5" name="Shape 3"/>
          <p:cNvSpPr/>
          <p:nvPr/>
        </p:nvSpPr>
        <p:spPr>
          <a:xfrm>
            <a:off x="640080" y="2834640"/>
            <a:ext cx="3474720" cy="2057400"/>
          </a:xfrm>
          <a:prstGeom prst="roundRect">
            <a:avLst>
              <a:gd name="adj" fmla="val 3556"/>
            </a:avLst>
          </a:prstGeom>
          <a:solidFill>
            <a:srgbClr val="2E4470"/>
          </a:solidFill>
          <a:ln w="12700">
            <a:solidFill>
              <a:srgbClr val="3C5488"/>
            </a:solidFill>
            <a:prstDash val="solid"/>
          </a:ln>
        </p:spPr>
      </p:sp>
      <p:sp>
        <p:nvSpPr>
          <p:cNvPr id="6" name="Text 4"/>
          <p:cNvSpPr txBox="1"/>
          <p:nvPr/>
        </p:nvSpPr>
        <p:spPr>
          <a:xfrm>
            <a:off x="896112" y="3063240"/>
            <a:ext cx="2962656"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is switched off</a:t>
            </a:r>
            <a:endParaRPr lang="en-US" sz="1400" dirty="0"/>
          </a:p>
        </p:txBody>
      </p:sp>
      <p:sp>
        <p:nvSpPr>
          <p:cNvPr id="7" name="Text 5"/>
          <p:cNvSpPr txBox="1"/>
          <p:nvPr/>
        </p:nvSpPr>
        <p:spPr>
          <a:xfrm>
            <a:off x="896112" y="3474720"/>
            <a:ext cx="2962656" cy="11887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Inflation adjustment under VUK Repeated Art. 298/A. Asset values and depreciation stay in historical lira.</a:t>
            </a:r>
            <a:endParaRPr lang="en-US" sz="1200" dirty="0"/>
          </a:p>
        </p:txBody>
      </p:sp>
      <p:sp>
        <p:nvSpPr>
          <p:cNvPr id="8" name="Shape 6"/>
          <p:cNvSpPr/>
          <p:nvPr/>
        </p:nvSpPr>
        <p:spPr>
          <a:xfrm>
            <a:off x="4343400" y="2834640"/>
            <a:ext cx="3474720" cy="2057400"/>
          </a:xfrm>
          <a:prstGeom prst="roundRect">
            <a:avLst>
              <a:gd name="adj" fmla="val 3556"/>
            </a:avLst>
          </a:prstGeom>
          <a:solidFill>
            <a:srgbClr val="2E4470"/>
          </a:solidFill>
          <a:ln w="12700">
            <a:solidFill>
              <a:srgbClr val="3C5488"/>
            </a:solidFill>
            <a:prstDash val="solid"/>
          </a:ln>
        </p:spPr>
      </p:sp>
      <p:sp>
        <p:nvSpPr>
          <p:cNvPr id="9" name="Text 7"/>
          <p:cNvSpPr txBox="1"/>
          <p:nvPr/>
        </p:nvSpPr>
        <p:spPr>
          <a:xfrm>
            <a:off x="4599432" y="3063240"/>
            <a:ext cx="2962656"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remains available</a:t>
            </a:r>
            <a:endParaRPr lang="en-US" sz="1400" dirty="0"/>
          </a:p>
        </p:txBody>
      </p:sp>
      <p:sp>
        <p:nvSpPr>
          <p:cNvPr id="10" name="Text 8"/>
          <p:cNvSpPr txBox="1"/>
          <p:nvPr/>
        </p:nvSpPr>
        <p:spPr>
          <a:xfrm>
            <a:off x="4599432" y="3474720"/>
            <a:ext cx="2962656" cy="11887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Optional annual revaluation under VUK Repeated Art. 298/Ç. Assets are indexed by the official revaluation rate.</a:t>
            </a:r>
            <a:endParaRPr lang="en-US" sz="1200" dirty="0"/>
          </a:p>
        </p:txBody>
      </p:sp>
      <p:sp>
        <p:nvSpPr>
          <p:cNvPr id="11" name="Shape 9"/>
          <p:cNvSpPr/>
          <p:nvPr/>
        </p:nvSpPr>
        <p:spPr>
          <a:xfrm>
            <a:off x="8046720" y="2834640"/>
            <a:ext cx="3474720" cy="2057400"/>
          </a:xfrm>
          <a:prstGeom prst="roundRect">
            <a:avLst>
              <a:gd name="adj" fmla="val 3556"/>
            </a:avLst>
          </a:prstGeom>
          <a:solidFill>
            <a:srgbClr val="2E4470"/>
          </a:solidFill>
          <a:ln w="12700">
            <a:solidFill>
              <a:srgbClr val="3C5488"/>
            </a:solidFill>
            <a:prstDash val="solid"/>
          </a:ln>
        </p:spPr>
      </p:sp>
      <p:sp>
        <p:nvSpPr>
          <p:cNvPr id="12" name="Text 10"/>
          <p:cNvSpPr txBox="1"/>
          <p:nvPr/>
        </p:nvSpPr>
        <p:spPr>
          <a:xfrm>
            <a:off x="8302752" y="3063240"/>
            <a:ext cx="2962656"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p>
        </p:txBody>
      </p:sp>
      <p:sp>
        <p:nvSpPr>
          <p:cNvPr id="13" name="Text 11"/>
          <p:cNvSpPr txBox="1"/>
          <p:nvPr/>
        </p:nvSpPr>
        <p:spPr>
          <a:xfrm>
            <a:off x="8302752" y="3474720"/>
            <a:ext cx="2962656" cy="11887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The uplift is credited to a fund in equity and is not taxed, yet depreciation is then computed on the higher base.</a:t>
            </a:r>
            <a:endParaRPr lang="en-US" sz="1200" dirty="0"/>
          </a:p>
        </p:txBody>
      </p:sp>
      <p:sp>
        <p:nvSpPr>
          <p:cNvPr id="14" name="Text 12"/>
          <p:cNvSpPr txBox="1"/>
          <p:nvPr/>
        </p:nvSpPr>
        <p:spPr>
          <a:xfrm>
            <a:off x="640080" y="5166360"/>
            <a:ext cx="10881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2025 revaluation rate: 25.49%  ·  VUK General Communiqué No. 585, Official Gazette 27 November 2025</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WORKED EXAMPLE · ASSET AT TRY 4.8M, 10 YEARS, 30% DEPRECIATED</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What the revaluation election is worth</a:t>
            </a:r>
            <a:endParaRPr lang="en-US" sz="3200" dirty="0"/>
          </a:p>
        </p:txBody>
      </p:sp>
      <p:graphicFrame>
        <p:nvGraphicFramePr>
          <p:cNvPr id="4" name="Chart 0" descr=""/>
          <p:cNvGraphicFramePr/>
          <p:nvPr/>
        </p:nvGraphicFramePr>
        <p:xfrm>
          <a:off x="640080" y="1783080"/>
          <a:ext cx="71323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1783080"/>
            <a:ext cx="3520440" cy="3566160"/>
          </a:xfrm>
          <a:prstGeom prst="roundRect">
            <a:avLst>
              <a:gd name="adj" fmla="val 2078"/>
            </a:avLst>
          </a:prstGeom>
          <a:solidFill>
            <a:srgbClr val="EEF2F8"/>
          </a:solidFill>
          <a:ln w="9525">
            <a:solidFill>
              <a:srgbClr val="DDE4EE"/>
            </a:solidFill>
            <a:prstDash val="solid"/>
          </a:ln>
          <a:effectLst>
            <a:outerShdw sx="100000" sy="100000" kx="0" ky="0" algn="bl" rotWithShape="0" blurRad="127000" dist="25400" dir="5400000">
              <a:srgbClr val="9AA5B8">
                <a:alpha val="25000"/>
              </a:srgbClr>
            </a:outerShdw>
          </a:effectLst>
        </p:spPr>
      </p:sp>
      <p:sp>
        <p:nvSpPr>
          <p:cNvPr id="6" name="Text 3"/>
          <p:cNvSpPr txBox="1"/>
          <p:nvPr/>
        </p:nvSpPr>
        <p:spPr>
          <a:xfrm>
            <a:off x="8275320" y="2011680"/>
            <a:ext cx="3017520" cy="777240"/>
          </a:xfrm>
          <a:prstGeom prst="rect">
            <a:avLst/>
          </a:prstGeom>
          <a:noFill/>
          <a:ln/>
        </p:spPr>
        <p:txBody>
          <a:bodyPr wrap="square" lIns="0" tIns="0" rIns="0" bIns="0" rtlCol="0" anchor="ctr"/>
          <a:lstStyle/>
          <a:p>
            <a:pPr algn="l" indent="0" marL="0">
              <a:buNone/>
            </a:pPr>
            <a:r>
              <a:rPr lang="en-US" sz="4000" b="1" dirty="0">
                <a:solidFill>
                  <a:srgbClr val="1E7A46"/>
                </a:solidFill>
                <a:latin typeface="Cambria" pitchFamily="34" charset="0"/>
                <a:ea typeface="Cambria" pitchFamily="34" charset="-122"/>
                <a:cs typeface="Cambria" pitchFamily="34" charset="-120"/>
              </a:rPr>
              <a:t>+TRY 122,352</a:t>
            </a:r>
            <a:endParaRPr lang="en-US" sz="4000" dirty="0"/>
          </a:p>
        </p:txBody>
      </p:sp>
      <p:sp>
        <p:nvSpPr>
          <p:cNvPr id="7" name="Text 4"/>
          <p:cNvSpPr txBox="1"/>
          <p:nvPr/>
        </p:nvSpPr>
        <p:spPr>
          <a:xfrm>
            <a:off x="8275320" y="2761488"/>
            <a:ext cx="3017520" cy="6858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Additional deductible depreciation every year, for this single asset.</a:t>
            </a:r>
            <a:endParaRPr lang="en-US" sz="1200" dirty="0"/>
          </a:p>
        </p:txBody>
      </p:sp>
      <p:sp>
        <p:nvSpPr>
          <p:cNvPr id="8" name="Text 5"/>
          <p:cNvSpPr txBox="1"/>
          <p:nvPr/>
        </p:nvSpPr>
        <p:spPr>
          <a:xfrm>
            <a:off x="8275320" y="3429000"/>
            <a:ext cx="3017520" cy="777240"/>
          </a:xfrm>
          <a:prstGeom prst="rect">
            <a:avLst/>
          </a:prstGeom>
          <a:noFill/>
          <a:ln/>
        </p:spPr>
        <p:txBody>
          <a:bodyPr wrap="square" lIns="0" tIns="0" rIns="0" bIns="0" rtlCol="0" anchor="ctr"/>
          <a:lstStyle/>
          <a:p>
            <a:pPr algn="l" indent="0" marL="0">
              <a:buNone/>
            </a:pPr>
            <a:r>
              <a:rPr lang="en-US" sz="4000" b="1" dirty="0">
                <a:solidFill>
                  <a:srgbClr val="1B2A4A"/>
                </a:solidFill>
                <a:latin typeface="Cambria" pitchFamily="34" charset="0"/>
                <a:ea typeface="Cambria" pitchFamily="34" charset="-122"/>
                <a:cs typeface="Cambria" pitchFamily="34" charset="-120"/>
              </a:rPr>
              <a:t>TRY 856,464</a:t>
            </a:r>
            <a:endParaRPr lang="en-US" sz="4000" dirty="0"/>
          </a:p>
        </p:txBody>
      </p:sp>
      <p:sp>
        <p:nvSpPr>
          <p:cNvPr id="9" name="Text 6"/>
          <p:cNvSpPr txBox="1"/>
          <p:nvPr/>
        </p:nvSpPr>
        <p:spPr>
          <a:xfrm>
            <a:off x="8275320" y="4178808"/>
            <a:ext cx="3017520" cy="6858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Credited to a special fund in equity. Not taxed unless distributed or withdrawn.</a:t>
            </a:r>
            <a:endParaRPr lang="en-US" sz="1200" dirty="0"/>
          </a:p>
        </p:txBody>
      </p:sp>
      <p:sp>
        <p:nvSpPr>
          <p:cNvPr id="10" name="Text 7"/>
          <p:cNvSpPr txBox="1"/>
          <p:nvPr/>
        </p:nvSpPr>
        <p:spPr>
          <a:xfrm>
            <a:off x="8275320" y="4846320"/>
            <a:ext cx="3017520" cy="32004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Optional and assessed annually.</a:t>
            </a:r>
            <a:endParaRPr lang="en-US" sz="1150" dirty="0"/>
          </a:p>
        </p:txBody>
      </p:sp>
      <p:sp>
        <p:nvSpPr>
          <p:cNvPr id="11" name="Text 8"/>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Without revaluation, depreciation stays fixed in nominal lira while replacement cost rises, so the real value of the deduction erodes and taxable profit is overstated. Source: model tab 'Ex4 Revaluation'.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CONCLUSIONS</a:t>
            </a:r>
            <a:endParaRPr lang="en-US" sz="1100" dirty="0"/>
          </a:p>
        </p:txBody>
      </p:sp>
      <p:sp>
        <p:nvSpPr>
          <p:cNvPr id="3" name="Text 1"/>
          <p:cNvSpPr txBox="1"/>
          <p:nvPr/>
        </p:nvSpPr>
        <p:spPr>
          <a:xfrm>
            <a:off x="640080" y="621792"/>
            <a:ext cx="10881360" cy="658368"/>
          </a:xfrm>
          <a:prstGeom prst="rect">
            <a:avLst/>
          </a:prstGeom>
          <a:noFill/>
          <a:ln/>
        </p:spPr>
        <p:txBody>
          <a:bodyPr wrap="square" lIns="0" tIns="0" rIns="0" bIns="0" rtlCol="0" anchor="t"/>
          <a:lstStyle/>
          <a:p>
            <a:pPr indent="0" marL="0">
              <a:buNone/>
            </a:pPr>
            <a:r>
              <a:rPr lang="en-US" sz="3200" b="1" dirty="0">
                <a:solidFill>
                  <a:srgbClr val="1B2A4A"/>
                </a:solidFill>
                <a:latin typeface="Cambria" pitchFamily="34" charset="0"/>
                <a:ea typeface="Cambria" pitchFamily="34" charset="-122"/>
                <a:cs typeface="Cambria" pitchFamily="34" charset="-120"/>
              </a:rPr>
              <a:t>What we ask HQ to note</a:t>
            </a:r>
            <a:endParaRPr lang="en-US" sz="3200" dirty="0"/>
          </a:p>
        </p:txBody>
      </p:sp>
      <p:sp>
        <p:nvSpPr>
          <p:cNvPr id="4" name="Shape 2"/>
          <p:cNvSpPr/>
          <p:nvPr/>
        </p:nvSpPr>
        <p:spPr>
          <a:xfrm>
            <a:off x="640080" y="1572768"/>
            <a:ext cx="10881360" cy="960120"/>
          </a:xfrm>
          <a:prstGeom prst="roundRect">
            <a:avLst>
              <a:gd name="adj" fmla="val 5714"/>
            </a:avLst>
          </a:prstGeom>
          <a:solidFill>
            <a:srgbClr val="F7F9FC"/>
          </a:solidFill>
          <a:ln w="9525">
            <a:solidFill>
              <a:srgbClr val="DDE4EE"/>
            </a:solidFill>
            <a:prstDash val="solid"/>
          </a:ln>
        </p:spPr>
      </p:sp>
      <p:sp>
        <p:nvSpPr>
          <p:cNvPr id="5" name="Shape 3"/>
          <p:cNvSpPr/>
          <p:nvPr/>
        </p:nvSpPr>
        <p:spPr>
          <a:xfrm>
            <a:off x="914400" y="1856232"/>
            <a:ext cx="384048" cy="384048"/>
          </a:xfrm>
          <a:prstGeom prst="ellipse">
            <a:avLst/>
          </a:prstGeom>
          <a:solidFill>
            <a:srgbClr val="1B2A4A"/>
          </a:solidFill>
          <a:ln w="12700">
            <a:solidFill>
              <a:srgbClr val="1B2A4A"/>
            </a:solidFill>
            <a:prstDash val="solid"/>
          </a:ln>
        </p:spPr>
      </p:sp>
      <p:sp>
        <p:nvSpPr>
          <p:cNvPr id="6" name="Text 4"/>
          <p:cNvSpPr txBox="1"/>
          <p:nvPr/>
        </p:nvSpPr>
        <p:spPr>
          <a:xfrm>
            <a:off x="914400" y="1856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508760" y="1719072"/>
            <a:ext cx="9692640" cy="310896"/>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Do not read Turkish depreciation as an estimate</a:t>
            </a:r>
            <a:endParaRPr lang="en-US" sz="1500" dirty="0"/>
          </a:p>
        </p:txBody>
      </p:sp>
      <p:sp>
        <p:nvSpPr>
          <p:cNvPr id="8" name="Text 6"/>
          <p:cNvSpPr txBox="1"/>
          <p:nvPr/>
        </p:nvSpPr>
        <p:spPr>
          <a:xfrm>
            <a:off x="1508760" y="2048256"/>
            <a:ext cx="9692640" cy="4114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Lives come from a binding schedule. Year-on-year movements reflect law and indexation changes, not management judgement.</a:t>
            </a:r>
            <a:endParaRPr lang="en-US" sz="1250" dirty="0"/>
          </a:p>
        </p:txBody>
      </p:sp>
      <p:sp>
        <p:nvSpPr>
          <p:cNvPr id="9" name="Shape 7"/>
          <p:cNvSpPr/>
          <p:nvPr/>
        </p:nvSpPr>
        <p:spPr>
          <a:xfrm>
            <a:off x="640080" y="2633472"/>
            <a:ext cx="10881360" cy="960120"/>
          </a:xfrm>
          <a:prstGeom prst="roundRect">
            <a:avLst>
              <a:gd name="adj" fmla="val 5714"/>
            </a:avLst>
          </a:prstGeom>
          <a:solidFill>
            <a:srgbClr val="FFFFFF"/>
          </a:solidFill>
          <a:ln w="9525">
            <a:solidFill>
              <a:srgbClr val="DDE4EE"/>
            </a:solidFill>
            <a:prstDash val="solid"/>
          </a:ln>
        </p:spPr>
      </p:sp>
      <p:sp>
        <p:nvSpPr>
          <p:cNvPr id="10" name="Shape 8"/>
          <p:cNvSpPr/>
          <p:nvPr/>
        </p:nvSpPr>
        <p:spPr>
          <a:xfrm>
            <a:off x="914400" y="2916936"/>
            <a:ext cx="384048" cy="384048"/>
          </a:xfrm>
          <a:prstGeom prst="ellipse">
            <a:avLst/>
          </a:prstGeom>
          <a:solidFill>
            <a:srgbClr val="1B2A4A"/>
          </a:solidFill>
          <a:ln w="12700">
            <a:solidFill>
              <a:srgbClr val="1B2A4A"/>
            </a:solidFill>
            <a:prstDash val="solid"/>
          </a:ln>
        </p:spPr>
      </p:sp>
      <p:sp>
        <p:nvSpPr>
          <p:cNvPr id="11" name="Text 9"/>
          <p:cNvSpPr txBox="1"/>
          <p:nvPr/>
        </p:nvSpPr>
        <p:spPr>
          <a:xfrm>
            <a:off x="914400" y="2916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508760" y="2779776"/>
            <a:ext cx="9692640" cy="310896"/>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Expect two kinds of difference</a:t>
            </a:r>
            <a:endParaRPr lang="en-US" sz="1500" dirty="0"/>
          </a:p>
        </p:txBody>
      </p:sp>
      <p:sp>
        <p:nvSpPr>
          <p:cNvPr id="13" name="Text 11"/>
          <p:cNvSpPr txBox="1"/>
          <p:nvPr/>
        </p:nvSpPr>
        <p:spPr>
          <a:xfrm>
            <a:off x="1508760" y="3108960"/>
            <a:ext cx="9692640" cy="4114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Method and life differences reverse over time. Passenger car caps never reverse and must be tracked as permanent.</a:t>
            </a:r>
            <a:endParaRPr lang="en-US" sz="1250" dirty="0"/>
          </a:p>
        </p:txBody>
      </p:sp>
      <p:sp>
        <p:nvSpPr>
          <p:cNvPr id="14" name="Shape 12"/>
          <p:cNvSpPr/>
          <p:nvPr/>
        </p:nvSpPr>
        <p:spPr>
          <a:xfrm>
            <a:off x="640080" y="3694176"/>
            <a:ext cx="10881360" cy="960120"/>
          </a:xfrm>
          <a:prstGeom prst="roundRect">
            <a:avLst>
              <a:gd name="adj" fmla="val 5714"/>
            </a:avLst>
          </a:prstGeom>
          <a:solidFill>
            <a:srgbClr val="F7F9FC"/>
          </a:solidFill>
          <a:ln w="9525">
            <a:solidFill>
              <a:srgbClr val="DDE4EE"/>
            </a:solidFill>
            <a:prstDash val="solid"/>
          </a:ln>
        </p:spPr>
      </p:sp>
      <p:sp>
        <p:nvSpPr>
          <p:cNvPr id="15" name="Shape 13"/>
          <p:cNvSpPr/>
          <p:nvPr/>
        </p:nvSpPr>
        <p:spPr>
          <a:xfrm>
            <a:off x="914400" y="3977640"/>
            <a:ext cx="384048" cy="384048"/>
          </a:xfrm>
          <a:prstGeom prst="ellipse">
            <a:avLst/>
          </a:prstGeom>
          <a:solidFill>
            <a:srgbClr val="C8102E"/>
          </a:solidFill>
          <a:ln w="12700">
            <a:solidFill>
              <a:srgbClr val="C8102E"/>
            </a:solidFill>
            <a:prstDash val="solid"/>
          </a:ln>
        </p:spPr>
      </p:sp>
      <p:sp>
        <p:nvSpPr>
          <p:cNvPr id="16" name="Text 14"/>
          <p:cNvSpPr txBox="1"/>
          <p:nvPr/>
        </p:nvSpPr>
        <p:spPr>
          <a:xfrm>
            <a:off x="914400" y="3977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508760" y="3840480"/>
            <a:ext cx="9692640" cy="310896"/>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Revisit the revaluation election every year</a:t>
            </a:r>
            <a:endParaRPr lang="en-US" sz="1500" dirty="0"/>
          </a:p>
        </p:txBody>
      </p:sp>
      <p:sp>
        <p:nvSpPr>
          <p:cNvPr id="18" name="Text 16"/>
          <p:cNvSpPr txBox="1"/>
          <p:nvPr/>
        </p:nvSpPr>
        <p:spPr>
          <a:xfrm>
            <a:off x="1508760" y="4169664"/>
            <a:ext cx="9692640" cy="4114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It is optional, it is not taxed, and while inflation adjustment stays suspended it is the main protection for the depreciation base.</a:t>
            </a:r>
            <a:endParaRPr lang="en-US" sz="1250" dirty="0"/>
          </a:p>
        </p:txBody>
      </p:sp>
      <p:sp>
        <p:nvSpPr>
          <p:cNvPr id="19" name="Shape 17"/>
          <p:cNvSpPr/>
          <p:nvPr/>
        </p:nvSpPr>
        <p:spPr>
          <a:xfrm>
            <a:off x="640080" y="4754880"/>
            <a:ext cx="10881360" cy="960120"/>
          </a:xfrm>
          <a:prstGeom prst="roundRect">
            <a:avLst>
              <a:gd name="adj" fmla="val 5714"/>
            </a:avLst>
          </a:prstGeom>
          <a:solidFill>
            <a:srgbClr val="FFFFFF"/>
          </a:solidFill>
          <a:ln w="9525">
            <a:solidFill>
              <a:srgbClr val="DDE4EE"/>
            </a:solidFill>
            <a:prstDash val="solid"/>
          </a:ln>
        </p:spPr>
      </p:sp>
      <p:sp>
        <p:nvSpPr>
          <p:cNvPr id="20" name="Shape 18"/>
          <p:cNvSpPr/>
          <p:nvPr/>
        </p:nvSpPr>
        <p:spPr>
          <a:xfrm>
            <a:off x="914400" y="5038344"/>
            <a:ext cx="384048" cy="384048"/>
          </a:xfrm>
          <a:prstGeom prst="ellipse">
            <a:avLst/>
          </a:prstGeom>
          <a:solidFill>
            <a:srgbClr val="1B2A4A"/>
          </a:solidFill>
          <a:ln w="12700">
            <a:solidFill>
              <a:srgbClr val="1B2A4A"/>
            </a:solidFill>
            <a:prstDash val="solid"/>
          </a:ln>
        </p:spPr>
      </p:sp>
      <p:sp>
        <p:nvSpPr>
          <p:cNvPr id="21" name="Text 19"/>
          <p:cNvSpPr txBox="1"/>
          <p:nvPr/>
        </p:nvSpPr>
        <p:spPr>
          <a:xfrm>
            <a:off x="914400" y="5038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508760" y="4901184"/>
            <a:ext cx="9692640" cy="310896"/>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Refresh thresholds each January</a:t>
            </a:r>
            <a:endParaRPr lang="en-US" sz="1500" dirty="0"/>
          </a:p>
        </p:txBody>
      </p:sp>
      <p:sp>
        <p:nvSpPr>
          <p:cNvPr id="23" name="Text 21"/>
          <p:cNvSpPr txBox="1"/>
          <p:nvPr/>
        </p:nvSpPr>
        <p:spPr>
          <a:xfrm>
            <a:off x="1508760" y="5230368"/>
            <a:ext cx="9692640" cy="4114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The direct expensing limit and car caps are re-set annually. The attached model has one tab for these; update it and everything recalculates.</a:t>
            </a:r>
            <a:endParaRPr lang="en-US" sz="1250" dirty="0"/>
          </a:p>
        </p:txBody>
      </p:sp>
      <p:sp>
        <p:nvSpPr>
          <p:cNvPr id="24" name="Text 22"/>
          <p:cNvSpPr txBox="1"/>
          <p:nvPr/>
        </p:nvSpPr>
        <p:spPr>
          <a:xfrm>
            <a:off x="640080" y="6053328"/>
            <a:ext cx="10881360" cy="347472"/>
          </a:xfrm>
          <a:prstGeom prst="rect">
            <a:avLst/>
          </a:prstGeom>
          <a:noFill/>
          <a:ln/>
        </p:spPr>
        <p:txBody>
          <a:bodyPr wrap="square" lIns="0" tIns="0" rIns="0" bIns="0" rtlCol="0" anchor="b"/>
          <a:lstStyle/>
          <a:p>
            <a:pPr indent="0" marL="0">
              <a:buNone/>
            </a:pPr>
            <a:r>
              <a:rPr lang="en-US" sz="900" i="1" dirty="0">
                <a:solidFill>
                  <a:srgbClr val="6B7280"/>
                </a:solidFill>
                <a:latin typeface="Calibri" pitchFamily="34" charset="0"/>
                <a:ea typeface="Calibri" pitchFamily="34" charset="-122"/>
                <a:cs typeface="Calibri" pitchFamily="34" charset="-120"/>
              </a:rPr>
              <a:t>Accompanying file: TR-Depreciation-Model-2026.xlsx. Every figure in this deck is a live formula there; change an input and the schedules recalculate.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548640"/>
            <a:ext cx="1088136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Sources</a:t>
            </a:r>
            <a:endParaRPr lang="en-US" sz="3200" dirty="0"/>
          </a:p>
        </p:txBody>
      </p:sp>
      <p:sp>
        <p:nvSpPr>
          <p:cNvPr id="3" name="Text 1"/>
          <p:cNvSpPr txBox="1"/>
          <p:nvPr/>
        </p:nvSpPr>
        <p:spPr>
          <a:xfrm>
            <a:off x="640080" y="1371600"/>
            <a:ext cx="10881360" cy="39319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Tax Procedure Law No. 213, Arts. 313–321 — depreciable assets, methods, periods, pro-rata rule</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VUK Repeated Art. 315 — declining balance; twice the normal rate, capped at 50%</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VUK Arts. 320 and 320/A, as amended by Law No. 7338 (26.10.2021) — longer-life election and daily basis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VUK Arts. 326 and 327 — goodwill, formation expenses and leasehold improvements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VUK Repeated Art. 298/Ç — optional continuous revaluation of depreciable assets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VUK Provisional Art. 37, added by Law No. 7571 Art. 34 — inflation adjustment suspended for 2025–2027 (Official Gazette 25.12.2025, No. 33118)</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VUK General Communiqué No. 333 (28.04.2004), as amended by Nos. 339, 345, 365, 389, 399, 406, 418, 439, 458 — the Depreciation List</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VUK General Communiqué No. 585 (Official Gazette 27.11.2025) — 2025 revaluation rate of 25.49%</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Income Tax Law No. 193, Arts. 40/1, 40/5, 40/7 and Income Tax General Communiqué No. 332 — 2026 passenger car limits</a:t>
            </a:r>
            <a:endParaRPr lang="en-US" sz="1300" dirty="0"/>
          </a:p>
        </p:txBody>
      </p:sp>
      <p:sp>
        <p:nvSpPr>
          <p:cNvPr id="4" name="Text 2"/>
          <p:cNvSpPr txBox="1"/>
          <p:nvPr/>
        </p:nvSpPr>
        <p:spPr>
          <a:xfrm>
            <a:off x="640080" y="5577840"/>
            <a:ext cx="10881360" cy="548640"/>
          </a:xfrm>
          <a:prstGeom prst="rect">
            <a:avLst/>
          </a:prstGeom>
          <a:noFill/>
          <a:ln/>
        </p:spPr>
        <p:txBody>
          <a:bodyPr wrap="square" lIns="0" tIns="0" rIns="0" bIns="0" rtlCol="0" anchor="ctr"/>
          <a:lstStyle/>
          <a:p>
            <a:pPr indent="0" marL="0">
              <a:buNone/>
            </a:pPr>
            <a:r>
              <a:rPr lang="en-US" sz="1100" i="1" dirty="0">
                <a:solidFill>
                  <a:srgbClr val="8FA8D4"/>
                </a:solidFill>
                <a:latin typeface="Calibri" pitchFamily="34" charset="0"/>
                <a:ea typeface="Calibri" pitchFamily="34" charset="-122"/>
                <a:cs typeface="Calibri" pitchFamily="34" charset="-120"/>
              </a:rPr>
              <a:t>Primary legislation is published in the Official Gazette and consolidated by the Revenue Administration (gib.gov.tr). Threshold amounts are re-set annually; figures here are the 2026 amounts.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Türkiye · Depreciation and Amortisation for Tax Purposes</dc:title>
  <dc:subject>PptxGenJS Presentation</dc:subject>
  <dc:creator>Finance</dc:creator>
  <cp:lastModifiedBy>Finance</cp:lastModifiedBy>
  <cp:revision>1</cp:revision>
  <dcterms:created xsi:type="dcterms:W3CDTF">2026-09-15T13:07:12Z</dcterms:created>
  <dcterms:modified xsi:type="dcterms:W3CDTF">2026-09-15T13:07:12Z</dcterms:modified>
</cp:coreProperties>
</file>